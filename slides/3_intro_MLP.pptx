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9" r:id="rId11"/>
    <p:sldId id="270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29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7"/>
  </p:normalViewPr>
  <p:slideViewPr>
    <p:cSldViewPr snapToGrid="0" snapToObjects="1">
      <p:cViewPr varScale="1">
        <p:scale>
          <a:sx n="101" d="100"/>
          <a:sy n="101" d="100"/>
        </p:scale>
        <p:origin x="7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constant η</c:v>
                </c:pt>
              </c:strCache>
            </c:strRef>
          </c:tx>
          <c:spPr>
            <a:ln w="15875">
              <a:solidFill>
                <a:srgbClr val="6B7480"/>
              </a:solidFill>
            </a:ln>
          </c:spPr>
          <c:marker>
            <c:symbol val="none"/>
          </c:marker>
          <c:xVal>
            <c:numRef>
              <c:f>Sheet1!$A$2:$A$105</c:f>
              <c:numCache>
                <c:formatCode>General</c:formatCode>
                <c:ptCount val="10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28</c:v>
                </c:pt>
                <c:pt idx="30">
                  <c:v>29</c:v>
                </c:pt>
                <c:pt idx="31">
                  <c:v>30</c:v>
                </c:pt>
                <c:pt idx="32">
                  <c:v>31</c:v>
                </c:pt>
                <c:pt idx="33">
                  <c:v>32</c:v>
                </c:pt>
                <c:pt idx="34">
                  <c:v>33</c:v>
                </c:pt>
                <c:pt idx="35">
                  <c:v>34</c:v>
                </c:pt>
                <c:pt idx="36">
                  <c:v>35</c:v>
                </c:pt>
                <c:pt idx="37">
                  <c:v>36</c:v>
                </c:pt>
                <c:pt idx="38">
                  <c:v>37</c:v>
                </c:pt>
                <c:pt idx="39">
                  <c:v>38</c:v>
                </c:pt>
                <c:pt idx="40">
                  <c:v>39</c:v>
                </c:pt>
                <c:pt idx="41">
                  <c:v>40</c:v>
                </c:pt>
                <c:pt idx="42">
                  <c:v>41</c:v>
                </c:pt>
                <c:pt idx="43">
                  <c:v>42</c:v>
                </c:pt>
                <c:pt idx="44">
                  <c:v>43</c:v>
                </c:pt>
                <c:pt idx="45">
                  <c:v>44</c:v>
                </c:pt>
                <c:pt idx="46">
                  <c:v>45</c:v>
                </c:pt>
                <c:pt idx="47">
                  <c:v>46</c:v>
                </c:pt>
                <c:pt idx="48">
                  <c:v>47</c:v>
                </c:pt>
                <c:pt idx="49">
                  <c:v>48</c:v>
                </c:pt>
                <c:pt idx="50">
                  <c:v>49</c:v>
                </c:pt>
                <c:pt idx="51">
                  <c:v>50</c:v>
                </c:pt>
                <c:pt idx="52">
                  <c:v>50</c:v>
                </c:pt>
                <c:pt idx="53">
                  <c:v>51</c:v>
                </c:pt>
                <c:pt idx="54">
                  <c:v>52</c:v>
                </c:pt>
                <c:pt idx="55">
                  <c:v>53</c:v>
                </c:pt>
                <c:pt idx="56">
                  <c:v>54</c:v>
                </c:pt>
                <c:pt idx="57">
                  <c:v>55</c:v>
                </c:pt>
                <c:pt idx="58">
                  <c:v>56</c:v>
                </c:pt>
                <c:pt idx="59">
                  <c:v>57</c:v>
                </c:pt>
                <c:pt idx="60">
                  <c:v>58</c:v>
                </c:pt>
                <c:pt idx="61">
                  <c:v>59</c:v>
                </c:pt>
                <c:pt idx="62">
                  <c:v>60</c:v>
                </c:pt>
                <c:pt idx="63">
                  <c:v>61</c:v>
                </c:pt>
                <c:pt idx="64">
                  <c:v>62</c:v>
                </c:pt>
                <c:pt idx="65">
                  <c:v>63</c:v>
                </c:pt>
                <c:pt idx="66">
                  <c:v>64</c:v>
                </c:pt>
                <c:pt idx="67">
                  <c:v>65</c:v>
                </c:pt>
                <c:pt idx="68">
                  <c:v>66</c:v>
                </c:pt>
                <c:pt idx="69">
                  <c:v>67</c:v>
                </c:pt>
                <c:pt idx="70">
                  <c:v>68</c:v>
                </c:pt>
                <c:pt idx="71">
                  <c:v>69</c:v>
                </c:pt>
                <c:pt idx="72">
                  <c:v>70</c:v>
                </c:pt>
                <c:pt idx="73">
                  <c:v>71</c:v>
                </c:pt>
                <c:pt idx="74">
                  <c:v>72</c:v>
                </c:pt>
                <c:pt idx="75">
                  <c:v>73</c:v>
                </c:pt>
                <c:pt idx="76">
                  <c:v>74</c:v>
                </c:pt>
                <c:pt idx="77">
                  <c:v>75</c:v>
                </c:pt>
                <c:pt idx="78">
                  <c:v>75</c:v>
                </c:pt>
                <c:pt idx="79">
                  <c:v>76</c:v>
                </c:pt>
                <c:pt idx="80">
                  <c:v>77</c:v>
                </c:pt>
                <c:pt idx="81">
                  <c:v>78</c:v>
                </c:pt>
                <c:pt idx="82">
                  <c:v>79</c:v>
                </c:pt>
                <c:pt idx="83">
                  <c:v>80</c:v>
                </c:pt>
                <c:pt idx="84">
                  <c:v>81</c:v>
                </c:pt>
                <c:pt idx="85">
                  <c:v>82</c:v>
                </c:pt>
                <c:pt idx="86">
                  <c:v>83</c:v>
                </c:pt>
                <c:pt idx="87">
                  <c:v>84</c:v>
                </c:pt>
                <c:pt idx="88">
                  <c:v>85</c:v>
                </c:pt>
                <c:pt idx="89">
                  <c:v>86</c:v>
                </c:pt>
                <c:pt idx="90">
                  <c:v>87</c:v>
                </c:pt>
                <c:pt idx="91">
                  <c:v>88</c:v>
                </c:pt>
                <c:pt idx="92">
                  <c:v>89</c:v>
                </c:pt>
                <c:pt idx="93">
                  <c:v>90</c:v>
                </c:pt>
                <c:pt idx="94">
                  <c:v>91</c:v>
                </c:pt>
                <c:pt idx="95">
                  <c:v>92</c:v>
                </c:pt>
                <c:pt idx="96">
                  <c:v>93</c:v>
                </c:pt>
                <c:pt idx="97">
                  <c:v>94</c:v>
                </c:pt>
                <c:pt idx="98">
                  <c:v>95</c:v>
                </c:pt>
                <c:pt idx="99">
                  <c:v>96</c:v>
                </c:pt>
                <c:pt idx="100">
                  <c:v>97</c:v>
                </c:pt>
                <c:pt idx="101">
                  <c:v>98</c:v>
                </c:pt>
                <c:pt idx="102">
                  <c:v>99</c:v>
                </c:pt>
                <c:pt idx="103">
                  <c:v>100</c:v>
                </c:pt>
              </c:numCache>
            </c:numRef>
          </c:xVal>
          <c:yVal>
            <c:numRef>
              <c:f>Sheet1!$B$2:$B$105</c:f>
              <c:numCache>
                <c:formatCode>General</c:formatCode>
                <c:ptCount val="10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99C-844B-952B-4C2BDB1C4C64}"/>
            </c:ext>
          </c:extLst>
        </c:ser>
        <c:ser>
          <c:idx val="1"/>
          <c:order val="1"/>
          <c:tx>
            <c:strRef>
              <c:f>Sheet1!$B$107</c:f>
              <c:strCache>
                <c:ptCount val="1"/>
                <c:pt idx="0">
                  <c:v>step decay (γ = 0.5, s = 25)</c:v>
                </c:pt>
              </c:strCache>
            </c:strRef>
          </c:tx>
          <c:spPr>
            <a:ln w="34925">
              <a:solidFill>
                <a:srgbClr val="2F5D8C"/>
              </a:solidFill>
            </a:ln>
          </c:spPr>
          <c:marker>
            <c:symbol val="none"/>
          </c:marker>
          <c:xVal>
            <c:numRef>
              <c:f>Sheet1!$A$108:$A$211</c:f>
              <c:numCache>
                <c:formatCode>General</c:formatCode>
                <c:ptCount val="10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28</c:v>
                </c:pt>
                <c:pt idx="30">
                  <c:v>29</c:v>
                </c:pt>
                <c:pt idx="31">
                  <c:v>30</c:v>
                </c:pt>
                <c:pt idx="32">
                  <c:v>31</c:v>
                </c:pt>
                <c:pt idx="33">
                  <c:v>32</c:v>
                </c:pt>
                <c:pt idx="34">
                  <c:v>33</c:v>
                </c:pt>
                <c:pt idx="35">
                  <c:v>34</c:v>
                </c:pt>
                <c:pt idx="36">
                  <c:v>35</c:v>
                </c:pt>
                <c:pt idx="37">
                  <c:v>36</c:v>
                </c:pt>
                <c:pt idx="38">
                  <c:v>37</c:v>
                </c:pt>
                <c:pt idx="39">
                  <c:v>38</c:v>
                </c:pt>
                <c:pt idx="40">
                  <c:v>39</c:v>
                </c:pt>
                <c:pt idx="41">
                  <c:v>40</c:v>
                </c:pt>
                <c:pt idx="42">
                  <c:v>41</c:v>
                </c:pt>
                <c:pt idx="43">
                  <c:v>42</c:v>
                </c:pt>
                <c:pt idx="44">
                  <c:v>43</c:v>
                </c:pt>
                <c:pt idx="45">
                  <c:v>44</c:v>
                </c:pt>
                <c:pt idx="46">
                  <c:v>45</c:v>
                </c:pt>
                <c:pt idx="47">
                  <c:v>46</c:v>
                </c:pt>
                <c:pt idx="48">
                  <c:v>47</c:v>
                </c:pt>
                <c:pt idx="49">
                  <c:v>48</c:v>
                </c:pt>
                <c:pt idx="50">
                  <c:v>49</c:v>
                </c:pt>
                <c:pt idx="51">
                  <c:v>50</c:v>
                </c:pt>
                <c:pt idx="52">
                  <c:v>50</c:v>
                </c:pt>
                <c:pt idx="53">
                  <c:v>51</c:v>
                </c:pt>
                <c:pt idx="54">
                  <c:v>52</c:v>
                </c:pt>
                <c:pt idx="55">
                  <c:v>53</c:v>
                </c:pt>
                <c:pt idx="56">
                  <c:v>54</c:v>
                </c:pt>
                <c:pt idx="57">
                  <c:v>55</c:v>
                </c:pt>
                <c:pt idx="58">
                  <c:v>56</c:v>
                </c:pt>
                <c:pt idx="59">
                  <c:v>57</c:v>
                </c:pt>
                <c:pt idx="60">
                  <c:v>58</c:v>
                </c:pt>
                <c:pt idx="61">
                  <c:v>59</c:v>
                </c:pt>
                <c:pt idx="62">
                  <c:v>60</c:v>
                </c:pt>
                <c:pt idx="63">
                  <c:v>61</c:v>
                </c:pt>
                <c:pt idx="64">
                  <c:v>62</c:v>
                </c:pt>
                <c:pt idx="65">
                  <c:v>63</c:v>
                </c:pt>
                <c:pt idx="66">
                  <c:v>64</c:v>
                </c:pt>
                <c:pt idx="67">
                  <c:v>65</c:v>
                </c:pt>
                <c:pt idx="68">
                  <c:v>66</c:v>
                </c:pt>
                <c:pt idx="69">
                  <c:v>67</c:v>
                </c:pt>
                <c:pt idx="70">
                  <c:v>68</c:v>
                </c:pt>
                <c:pt idx="71">
                  <c:v>69</c:v>
                </c:pt>
                <c:pt idx="72">
                  <c:v>70</c:v>
                </c:pt>
                <c:pt idx="73">
                  <c:v>71</c:v>
                </c:pt>
                <c:pt idx="74">
                  <c:v>72</c:v>
                </c:pt>
                <c:pt idx="75">
                  <c:v>73</c:v>
                </c:pt>
                <c:pt idx="76">
                  <c:v>74</c:v>
                </c:pt>
                <c:pt idx="77">
                  <c:v>75</c:v>
                </c:pt>
                <c:pt idx="78">
                  <c:v>75</c:v>
                </c:pt>
                <c:pt idx="79">
                  <c:v>76</c:v>
                </c:pt>
                <c:pt idx="80">
                  <c:v>77</c:v>
                </c:pt>
                <c:pt idx="81">
                  <c:v>78</c:v>
                </c:pt>
                <c:pt idx="82">
                  <c:v>79</c:v>
                </c:pt>
                <c:pt idx="83">
                  <c:v>80</c:v>
                </c:pt>
                <c:pt idx="84">
                  <c:v>81</c:v>
                </c:pt>
                <c:pt idx="85">
                  <c:v>82</c:v>
                </c:pt>
                <c:pt idx="86">
                  <c:v>83</c:v>
                </c:pt>
                <c:pt idx="87">
                  <c:v>84</c:v>
                </c:pt>
                <c:pt idx="88">
                  <c:v>85</c:v>
                </c:pt>
                <c:pt idx="89">
                  <c:v>86</c:v>
                </c:pt>
                <c:pt idx="90">
                  <c:v>87</c:v>
                </c:pt>
                <c:pt idx="91">
                  <c:v>88</c:v>
                </c:pt>
                <c:pt idx="92">
                  <c:v>89</c:v>
                </c:pt>
                <c:pt idx="93">
                  <c:v>90</c:v>
                </c:pt>
                <c:pt idx="94">
                  <c:v>91</c:v>
                </c:pt>
                <c:pt idx="95">
                  <c:v>92</c:v>
                </c:pt>
                <c:pt idx="96">
                  <c:v>93</c:v>
                </c:pt>
                <c:pt idx="97">
                  <c:v>94</c:v>
                </c:pt>
                <c:pt idx="98">
                  <c:v>95</c:v>
                </c:pt>
                <c:pt idx="99">
                  <c:v>96</c:v>
                </c:pt>
                <c:pt idx="100">
                  <c:v>97</c:v>
                </c:pt>
                <c:pt idx="101">
                  <c:v>98</c:v>
                </c:pt>
                <c:pt idx="102">
                  <c:v>99</c:v>
                </c:pt>
                <c:pt idx="103">
                  <c:v>100</c:v>
                </c:pt>
              </c:numCache>
            </c:numRef>
          </c:xVal>
          <c:yVal>
            <c:numRef>
              <c:f>Sheet1!$B$108:$B$211</c:f>
              <c:numCache>
                <c:formatCode>General</c:formatCode>
                <c:ptCount val="10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  <c:pt idx="49">
                  <c:v>0.5</c:v>
                </c:pt>
                <c:pt idx="50">
                  <c:v>0.5</c:v>
                </c:pt>
                <c:pt idx="51">
                  <c:v>0.5</c:v>
                </c:pt>
                <c:pt idx="52">
                  <c:v>0.25</c:v>
                </c:pt>
                <c:pt idx="53">
                  <c:v>0.25</c:v>
                </c:pt>
                <c:pt idx="54">
                  <c:v>0.25</c:v>
                </c:pt>
                <c:pt idx="55">
                  <c:v>0.25</c:v>
                </c:pt>
                <c:pt idx="56">
                  <c:v>0.25</c:v>
                </c:pt>
                <c:pt idx="57">
                  <c:v>0.25</c:v>
                </c:pt>
                <c:pt idx="58">
                  <c:v>0.25</c:v>
                </c:pt>
                <c:pt idx="59">
                  <c:v>0.25</c:v>
                </c:pt>
                <c:pt idx="60">
                  <c:v>0.25</c:v>
                </c:pt>
                <c:pt idx="61">
                  <c:v>0.25</c:v>
                </c:pt>
                <c:pt idx="62">
                  <c:v>0.25</c:v>
                </c:pt>
                <c:pt idx="63">
                  <c:v>0.25</c:v>
                </c:pt>
                <c:pt idx="64">
                  <c:v>0.25</c:v>
                </c:pt>
                <c:pt idx="65">
                  <c:v>0.25</c:v>
                </c:pt>
                <c:pt idx="66">
                  <c:v>0.25</c:v>
                </c:pt>
                <c:pt idx="67">
                  <c:v>0.25</c:v>
                </c:pt>
                <c:pt idx="68">
                  <c:v>0.25</c:v>
                </c:pt>
                <c:pt idx="69">
                  <c:v>0.25</c:v>
                </c:pt>
                <c:pt idx="70">
                  <c:v>0.25</c:v>
                </c:pt>
                <c:pt idx="71">
                  <c:v>0.25</c:v>
                </c:pt>
                <c:pt idx="72">
                  <c:v>0.25</c:v>
                </c:pt>
                <c:pt idx="73">
                  <c:v>0.25</c:v>
                </c:pt>
                <c:pt idx="74">
                  <c:v>0.25</c:v>
                </c:pt>
                <c:pt idx="75">
                  <c:v>0.25</c:v>
                </c:pt>
                <c:pt idx="76">
                  <c:v>0.25</c:v>
                </c:pt>
                <c:pt idx="77">
                  <c:v>0.25</c:v>
                </c:pt>
                <c:pt idx="78">
                  <c:v>0.125</c:v>
                </c:pt>
                <c:pt idx="79">
                  <c:v>0.125</c:v>
                </c:pt>
                <c:pt idx="80">
                  <c:v>0.125</c:v>
                </c:pt>
                <c:pt idx="81">
                  <c:v>0.125</c:v>
                </c:pt>
                <c:pt idx="82">
                  <c:v>0.125</c:v>
                </c:pt>
                <c:pt idx="83">
                  <c:v>0.125</c:v>
                </c:pt>
                <c:pt idx="84">
                  <c:v>0.125</c:v>
                </c:pt>
                <c:pt idx="85">
                  <c:v>0.125</c:v>
                </c:pt>
                <c:pt idx="86">
                  <c:v>0.125</c:v>
                </c:pt>
                <c:pt idx="87">
                  <c:v>0.125</c:v>
                </c:pt>
                <c:pt idx="88">
                  <c:v>0.125</c:v>
                </c:pt>
                <c:pt idx="89">
                  <c:v>0.125</c:v>
                </c:pt>
                <c:pt idx="90">
                  <c:v>0.125</c:v>
                </c:pt>
                <c:pt idx="91">
                  <c:v>0.125</c:v>
                </c:pt>
                <c:pt idx="92">
                  <c:v>0.125</c:v>
                </c:pt>
                <c:pt idx="93">
                  <c:v>0.125</c:v>
                </c:pt>
                <c:pt idx="94">
                  <c:v>0.125</c:v>
                </c:pt>
                <c:pt idx="95">
                  <c:v>0.125</c:v>
                </c:pt>
                <c:pt idx="96">
                  <c:v>0.125</c:v>
                </c:pt>
                <c:pt idx="97">
                  <c:v>0.125</c:v>
                </c:pt>
                <c:pt idx="98">
                  <c:v>0.125</c:v>
                </c:pt>
                <c:pt idx="99">
                  <c:v>0.125</c:v>
                </c:pt>
                <c:pt idx="100">
                  <c:v>0.125</c:v>
                </c:pt>
                <c:pt idx="101">
                  <c:v>0.125</c:v>
                </c:pt>
                <c:pt idx="102">
                  <c:v>0.125</c:v>
                </c:pt>
                <c:pt idx="103">
                  <c:v>0.125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99C-844B-952B-4C2BDB1C4C64}"/>
            </c:ext>
          </c:extLst>
        </c:ser>
        <c:ser>
          <c:idx val="2"/>
          <c:order val="2"/>
          <c:tx>
            <c:strRef>
              <c:f>Sheet1!$B$213</c:f>
              <c:strCache>
                <c:ptCount val="1"/>
                <c:pt idx="0">
                  <c:v>exponential (γ = 0.97)</c:v>
                </c:pt>
              </c:strCache>
            </c:strRef>
          </c:tx>
          <c:spPr>
            <a:ln w="34925">
              <a:solidFill>
                <a:srgbClr val="2E7D6B"/>
              </a:solidFill>
            </a:ln>
          </c:spPr>
          <c:marker>
            <c:symbol val="none"/>
          </c:marker>
          <c:xVal>
            <c:numRef>
              <c:f>Sheet1!$A$214:$A$317</c:f>
              <c:numCache>
                <c:formatCode>General</c:formatCode>
                <c:ptCount val="10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28</c:v>
                </c:pt>
                <c:pt idx="30">
                  <c:v>29</c:v>
                </c:pt>
                <c:pt idx="31">
                  <c:v>30</c:v>
                </c:pt>
                <c:pt idx="32">
                  <c:v>31</c:v>
                </c:pt>
                <c:pt idx="33">
                  <c:v>32</c:v>
                </c:pt>
                <c:pt idx="34">
                  <c:v>33</c:v>
                </c:pt>
                <c:pt idx="35">
                  <c:v>34</c:v>
                </c:pt>
                <c:pt idx="36">
                  <c:v>35</c:v>
                </c:pt>
                <c:pt idx="37">
                  <c:v>36</c:v>
                </c:pt>
                <c:pt idx="38">
                  <c:v>37</c:v>
                </c:pt>
                <c:pt idx="39">
                  <c:v>38</c:v>
                </c:pt>
                <c:pt idx="40">
                  <c:v>39</c:v>
                </c:pt>
                <c:pt idx="41">
                  <c:v>40</c:v>
                </c:pt>
                <c:pt idx="42">
                  <c:v>41</c:v>
                </c:pt>
                <c:pt idx="43">
                  <c:v>42</c:v>
                </c:pt>
                <c:pt idx="44">
                  <c:v>43</c:v>
                </c:pt>
                <c:pt idx="45">
                  <c:v>44</c:v>
                </c:pt>
                <c:pt idx="46">
                  <c:v>45</c:v>
                </c:pt>
                <c:pt idx="47">
                  <c:v>46</c:v>
                </c:pt>
                <c:pt idx="48">
                  <c:v>47</c:v>
                </c:pt>
                <c:pt idx="49">
                  <c:v>48</c:v>
                </c:pt>
                <c:pt idx="50">
                  <c:v>49</c:v>
                </c:pt>
                <c:pt idx="51">
                  <c:v>50</c:v>
                </c:pt>
                <c:pt idx="52">
                  <c:v>50</c:v>
                </c:pt>
                <c:pt idx="53">
                  <c:v>51</c:v>
                </c:pt>
                <c:pt idx="54">
                  <c:v>52</c:v>
                </c:pt>
                <c:pt idx="55">
                  <c:v>53</c:v>
                </c:pt>
                <c:pt idx="56">
                  <c:v>54</c:v>
                </c:pt>
                <c:pt idx="57">
                  <c:v>55</c:v>
                </c:pt>
                <c:pt idx="58">
                  <c:v>56</c:v>
                </c:pt>
                <c:pt idx="59">
                  <c:v>57</c:v>
                </c:pt>
                <c:pt idx="60">
                  <c:v>58</c:v>
                </c:pt>
                <c:pt idx="61">
                  <c:v>59</c:v>
                </c:pt>
                <c:pt idx="62">
                  <c:v>60</c:v>
                </c:pt>
                <c:pt idx="63">
                  <c:v>61</c:v>
                </c:pt>
                <c:pt idx="64">
                  <c:v>62</c:v>
                </c:pt>
                <c:pt idx="65">
                  <c:v>63</c:v>
                </c:pt>
                <c:pt idx="66">
                  <c:v>64</c:v>
                </c:pt>
                <c:pt idx="67">
                  <c:v>65</c:v>
                </c:pt>
                <c:pt idx="68">
                  <c:v>66</c:v>
                </c:pt>
                <c:pt idx="69">
                  <c:v>67</c:v>
                </c:pt>
                <c:pt idx="70">
                  <c:v>68</c:v>
                </c:pt>
                <c:pt idx="71">
                  <c:v>69</c:v>
                </c:pt>
                <c:pt idx="72">
                  <c:v>70</c:v>
                </c:pt>
                <c:pt idx="73">
                  <c:v>71</c:v>
                </c:pt>
                <c:pt idx="74">
                  <c:v>72</c:v>
                </c:pt>
                <c:pt idx="75">
                  <c:v>73</c:v>
                </c:pt>
                <c:pt idx="76">
                  <c:v>74</c:v>
                </c:pt>
                <c:pt idx="77">
                  <c:v>75</c:v>
                </c:pt>
                <c:pt idx="78">
                  <c:v>75</c:v>
                </c:pt>
                <c:pt idx="79">
                  <c:v>76</c:v>
                </c:pt>
                <c:pt idx="80">
                  <c:v>77</c:v>
                </c:pt>
                <c:pt idx="81">
                  <c:v>78</c:v>
                </c:pt>
                <c:pt idx="82">
                  <c:v>79</c:v>
                </c:pt>
                <c:pt idx="83">
                  <c:v>80</c:v>
                </c:pt>
                <c:pt idx="84">
                  <c:v>81</c:v>
                </c:pt>
                <c:pt idx="85">
                  <c:v>82</c:v>
                </c:pt>
                <c:pt idx="86">
                  <c:v>83</c:v>
                </c:pt>
                <c:pt idx="87">
                  <c:v>84</c:v>
                </c:pt>
                <c:pt idx="88">
                  <c:v>85</c:v>
                </c:pt>
                <c:pt idx="89">
                  <c:v>86</c:v>
                </c:pt>
                <c:pt idx="90">
                  <c:v>87</c:v>
                </c:pt>
                <c:pt idx="91">
                  <c:v>88</c:v>
                </c:pt>
                <c:pt idx="92">
                  <c:v>89</c:v>
                </c:pt>
                <c:pt idx="93">
                  <c:v>90</c:v>
                </c:pt>
                <c:pt idx="94">
                  <c:v>91</c:v>
                </c:pt>
                <c:pt idx="95">
                  <c:v>92</c:v>
                </c:pt>
                <c:pt idx="96">
                  <c:v>93</c:v>
                </c:pt>
                <c:pt idx="97">
                  <c:v>94</c:v>
                </c:pt>
                <c:pt idx="98">
                  <c:v>95</c:v>
                </c:pt>
                <c:pt idx="99">
                  <c:v>96</c:v>
                </c:pt>
                <c:pt idx="100">
                  <c:v>97</c:v>
                </c:pt>
                <c:pt idx="101">
                  <c:v>98</c:v>
                </c:pt>
                <c:pt idx="102">
                  <c:v>99</c:v>
                </c:pt>
                <c:pt idx="103">
                  <c:v>100</c:v>
                </c:pt>
              </c:numCache>
            </c:numRef>
          </c:xVal>
          <c:yVal>
            <c:numRef>
              <c:f>Sheet1!$B$214:$B$317</c:f>
              <c:numCache>
                <c:formatCode>General</c:formatCode>
                <c:ptCount val="104"/>
                <c:pt idx="0">
                  <c:v>1</c:v>
                </c:pt>
                <c:pt idx="1">
                  <c:v>0.97</c:v>
                </c:pt>
                <c:pt idx="2">
                  <c:v>0.94089999999999996</c:v>
                </c:pt>
                <c:pt idx="3">
                  <c:v>0.91267299999999996</c:v>
                </c:pt>
                <c:pt idx="4">
                  <c:v>0.885293</c:v>
                </c:pt>
                <c:pt idx="5">
                  <c:v>0.858734</c:v>
                </c:pt>
                <c:pt idx="6">
                  <c:v>0.83297200000000005</c:v>
                </c:pt>
                <c:pt idx="7">
                  <c:v>0.80798300000000001</c:v>
                </c:pt>
                <c:pt idx="8">
                  <c:v>0.78374299999999997</c:v>
                </c:pt>
                <c:pt idx="9">
                  <c:v>0.76023099999999999</c:v>
                </c:pt>
                <c:pt idx="10">
                  <c:v>0.73742399999999997</c:v>
                </c:pt>
                <c:pt idx="11">
                  <c:v>0.71530099999999996</c:v>
                </c:pt>
                <c:pt idx="12">
                  <c:v>0.69384199999999996</c:v>
                </c:pt>
                <c:pt idx="13">
                  <c:v>0.67302700000000004</c:v>
                </c:pt>
                <c:pt idx="14">
                  <c:v>0.65283599999999997</c:v>
                </c:pt>
                <c:pt idx="15">
                  <c:v>0.63325100000000001</c:v>
                </c:pt>
                <c:pt idx="16">
                  <c:v>0.61425399999999997</c:v>
                </c:pt>
                <c:pt idx="17">
                  <c:v>0.59582599999999997</c:v>
                </c:pt>
                <c:pt idx="18">
                  <c:v>0.57795099999999999</c:v>
                </c:pt>
                <c:pt idx="19">
                  <c:v>0.56061300000000003</c:v>
                </c:pt>
                <c:pt idx="20">
                  <c:v>0.543794</c:v>
                </c:pt>
                <c:pt idx="21">
                  <c:v>0.52748099999999998</c:v>
                </c:pt>
                <c:pt idx="22">
                  <c:v>0.511656</c:v>
                </c:pt>
                <c:pt idx="23">
                  <c:v>0.49630600000000002</c:v>
                </c:pt>
                <c:pt idx="24">
                  <c:v>0.48141699999999998</c:v>
                </c:pt>
                <c:pt idx="25">
                  <c:v>0.46697499999999997</c:v>
                </c:pt>
                <c:pt idx="26">
                  <c:v>0.46697499999999997</c:v>
                </c:pt>
                <c:pt idx="27">
                  <c:v>0.45296500000000001</c:v>
                </c:pt>
                <c:pt idx="28">
                  <c:v>0.43937700000000002</c:v>
                </c:pt>
                <c:pt idx="29">
                  <c:v>0.42619499999999999</c:v>
                </c:pt>
                <c:pt idx="30">
                  <c:v>0.41340900000000003</c:v>
                </c:pt>
                <c:pt idx="31">
                  <c:v>0.401007</c:v>
                </c:pt>
                <c:pt idx="32">
                  <c:v>0.38897700000000002</c:v>
                </c:pt>
                <c:pt idx="33">
                  <c:v>0.37730799999999998</c:v>
                </c:pt>
                <c:pt idx="34">
                  <c:v>0.36598799999999998</c:v>
                </c:pt>
                <c:pt idx="35">
                  <c:v>0.35500900000000002</c:v>
                </c:pt>
                <c:pt idx="36">
                  <c:v>0.344358</c:v>
                </c:pt>
                <c:pt idx="37">
                  <c:v>0.33402799999999999</c:v>
                </c:pt>
                <c:pt idx="38">
                  <c:v>0.32400699999999999</c:v>
                </c:pt>
                <c:pt idx="39">
                  <c:v>0.31428699999999998</c:v>
                </c:pt>
                <c:pt idx="40">
                  <c:v>0.30485800000000002</c:v>
                </c:pt>
                <c:pt idx="41">
                  <c:v>0.29571199999999997</c:v>
                </c:pt>
                <c:pt idx="42">
                  <c:v>0.28684100000000001</c:v>
                </c:pt>
                <c:pt idx="43">
                  <c:v>0.27823599999999998</c:v>
                </c:pt>
                <c:pt idx="44">
                  <c:v>0.26988899999999999</c:v>
                </c:pt>
                <c:pt idx="45">
                  <c:v>0.26179200000000002</c:v>
                </c:pt>
                <c:pt idx="46">
                  <c:v>0.253938</c:v>
                </c:pt>
                <c:pt idx="47">
                  <c:v>0.24632000000000001</c:v>
                </c:pt>
                <c:pt idx="48">
                  <c:v>0.23893</c:v>
                </c:pt>
                <c:pt idx="49">
                  <c:v>0.231763</c:v>
                </c:pt>
                <c:pt idx="50">
                  <c:v>0.22481000000000001</c:v>
                </c:pt>
                <c:pt idx="51">
                  <c:v>0.21806500000000001</c:v>
                </c:pt>
                <c:pt idx="52">
                  <c:v>0.21806500000000001</c:v>
                </c:pt>
                <c:pt idx="53">
                  <c:v>0.21152299999999999</c:v>
                </c:pt>
                <c:pt idx="54">
                  <c:v>0.205178</c:v>
                </c:pt>
                <c:pt idx="55">
                  <c:v>0.199022</c:v>
                </c:pt>
                <c:pt idx="56">
                  <c:v>0.193052</c:v>
                </c:pt>
                <c:pt idx="57">
                  <c:v>0.18726000000000001</c:v>
                </c:pt>
                <c:pt idx="58">
                  <c:v>0.181642</c:v>
                </c:pt>
                <c:pt idx="59">
                  <c:v>0.17619299999999999</c:v>
                </c:pt>
                <c:pt idx="60">
                  <c:v>0.170907</c:v>
                </c:pt>
                <c:pt idx="61">
                  <c:v>0.16578000000000001</c:v>
                </c:pt>
                <c:pt idx="62">
                  <c:v>0.16080700000000001</c:v>
                </c:pt>
                <c:pt idx="63">
                  <c:v>0.15598200000000001</c:v>
                </c:pt>
                <c:pt idx="64">
                  <c:v>0.15130299999999999</c:v>
                </c:pt>
                <c:pt idx="65">
                  <c:v>0.14676400000000001</c:v>
                </c:pt>
                <c:pt idx="66">
                  <c:v>0.14236099999999999</c:v>
                </c:pt>
                <c:pt idx="67">
                  <c:v>0.13808999999999999</c:v>
                </c:pt>
                <c:pt idx="68">
                  <c:v>0.13394700000000001</c:v>
                </c:pt>
                <c:pt idx="69">
                  <c:v>0.12992899999999999</c:v>
                </c:pt>
                <c:pt idx="70">
                  <c:v>0.126031</c:v>
                </c:pt>
                <c:pt idx="71">
                  <c:v>0.12225</c:v>
                </c:pt>
                <c:pt idx="72">
                  <c:v>0.11858299999999999</c:v>
                </c:pt>
                <c:pt idx="73">
                  <c:v>0.115025</c:v>
                </c:pt>
                <c:pt idx="74">
                  <c:v>0.11157400000000001</c:v>
                </c:pt>
                <c:pt idx="75">
                  <c:v>0.108227</c:v>
                </c:pt>
                <c:pt idx="76">
                  <c:v>0.10498</c:v>
                </c:pt>
                <c:pt idx="77">
                  <c:v>0.101831</c:v>
                </c:pt>
                <c:pt idx="78">
                  <c:v>0.101831</c:v>
                </c:pt>
                <c:pt idx="79">
                  <c:v>9.8776000000000003E-2</c:v>
                </c:pt>
                <c:pt idx="80">
                  <c:v>9.5812999999999995E-2</c:v>
                </c:pt>
                <c:pt idx="81">
                  <c:v>9.2938000000000007E-2</c:v>
                </c:pt>
                <c:pt idx="82">
                  <c:v>9.0149999999999994E-2</c:v>
                </c:pt>
                <c:pt idx="83">
                  <c:v>8.7445999999999996E-2</c:v>
                </c:pt>
                <c:pt idx="84">
                  <c:v>8.4821999999999995E-2</c:v>
                </c:pt>
                <c:pt idx="85">
                  <c:v>8.2278000000000004E-2</c:v>
                </c:pt>
                <c:pt idx="86">
                  <c:v>7.9809000000000005E-2</c:v>
                </c:pt>
                <c:pt idx="87">
                  <c:v>7.7414999999999998E-2</c:v>
                </c:pt>
                <c:pt idx="88">
                  <c:v>7.5092999999999993E-2</c:v>
                </c:pt>
                <c:pt idx="89">
                  <c:v>7.2840000000000002E-2</c:v>
                </c:pt>
                <c:pt idx="90">
                  <c:v>7.0654999999999996E-2</c:v>
                </c:pt>
                <c:pt idx="91">
                  <c:v>6.8534999999999999E-2</c:v>
                </c:pt>
                <c:pt idx="92">
                  <c:v>6.6478999999999996E-2</c:v>
                </c:pt>
                <c:pt idx="93">
                  <c:v>6.4485000000000001E-2</c:v>
                </c:pt>
                <c:pt idx="94">
                  <c:v>6.2549999999999994E-2</c:v>
                </c:pt>
                <c:pt idx="95">
                  <c:v>6.0673999999999999E-2</c:v>
                </c:pt>
                <c:pt idx="96">
                  <c:v>5.8853000000000003E-2</c:v>
                </c:pt>
                <c:pt idx="97">
                  <c:v>5.7088E-2</c:v>
                </c:pt>
                <c:pt idx="98">
                  <c:v>5.5375000000000001E-2</c:v>
                </c:pt>
                <c:pt idx="99">
                  <c:v>5.3713999999999998E-2</c:v>
                </c:pt>
                <c:pt idx="100">
                  <c:v>5.2102000000000002E-2</c:v>
                </c:pt>
                <c:pt idx="101">
                  <c:v>5.0539000000000001E-2</c:v>
                </c:pt>
                <c:pt idx="102">
                  <c:v>4.9022999999999997E-2</c:v>
                </c:pt>
                <c:pt idx="103">
                  <c:v>4.7552999999999998E-2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99C-844B-952B-4C2BDB1C4C64}"/>
            </c:ext>
          </c:extLst>
        </c:ser>
        <c:ser>
          <c:idx val="3"/>
          <c:order val="3"/>
          <c:tx>
            <c:strRef>
              <c:f>Sheet1!$B$319</c:f>
              <c:strCache>
                <c:ptCount val="1"/>
                <c:pt idx="0">
                  <c:v>cosine</c:v>
                </c:pt>
              </c:strCache>
            </c:strRef>
          </c:tx>
          <c:spPr>
            <a:ln w="34925">
              <a:solidFill>
                <a:srgbClr val="9B2C3C"/>
              </a:solidFill>
            </a:ln>
          </c:spPr>
          <c:marker>
            <c:symbol val="none"/>
          </c:marker>
          <c:xVal>
            <c:numRef>
              <c:f>Sheet1!$A$320:$A$423</c:f>
              <c:numCache>
                <c:formatCode>General</c:formatCode>
                <c:ptCount val="10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28</c:v>
                </c:pt>
                <c:pt idx="30">
                  <c:v>29</c:v>
                </c:pt>
                <c:pt idx="31">
                  <c:v>30</c:v>
                </c:pt>
                <c:pt idx="32">
                  <c:v>31</c:v>
                </c:pt>
                <c:pt idx="33">
                  <c:v>32</c:v>
                </c:pt>
                <c:pt idx="34">
                  <c:v>33</c:v>
                </c:pt>
                <c:pt idx="35">
                  <c:v>34</c:v>
                </c:pt>
                <c:pt idx="36">
                  <c:v>35</c:v>
                </c:pt>
                <c:pt idx="37">
                  <c:v>36</c:v>
                </c:pt>
                <c:pt idx="38">
                  <c:v>37</c:v>
                </c:pt>
                <c:pt idx="39">
                  <c:v>38</c:v>
                </c:pt>
                <c:pt idx="40">
                  <c:v>39</c:v>
                </c:pt>
                <c:pt idx="41">
                  <c:v>40</c:v>
                </c:pt>
                <c:pt idx="42">
                  <c:v>41</c:v>
                </c:pt>
                <c:pt idx="43">
                  <c:v>42</c:v>
                </c:pt>
                <c:pt idx="44">
                  <c:v>43</c:v>
                </c:pt>
                <c:pt idx="45">
                  <c:v>44</c:v>
                </c:pt>
                <c:pt idx="46">
                  <c:v>45</c:v>
                </c:pt>
                <c:pt idx="47">
                  <c:v>46</c:v>
                </c:pt>
                <c:pt idx="48">
                  <c:v>47</c:v>
                </c:pt>
                <c:pt idx="49">
                  <c:v>48</c:v>
                </c:pt>
                <c:pt idx="50">
                  <c:v>49</c:v>
                </c:pt>
                <c:pt idx="51">
                  <c:v>50</c:v>
                </c:pt>
                <c:pt idx="52">
                  <c:v>50</c:v>
                </c:pt>
                <c:pt idx="53">
                  <c:v>51</c:v>
                </c:pt>
                <c:pt idx="54">
                  <c:v>52</c:v>
                </c:pt>
                <c:pt idx="55">
                  <c:v>53</c:v>
                </c:pt>
                <c:pt idx="56">
                  <c:v>54</c:v>
                </c:pt>
                <c:pt idx="57">
                  <c:v>55</c:v>
                </c:pt>
                <c:pt idx="58">
                  <c:v>56</c:v>
                </c:pt>
                <c:pt idx="59">
                  <c:v>57</c:v>
                </c:pt>
                <c:pt idx="60">
                  <c:v>58</c:v>
                </c:pt>
                <c:pt idx="61">
                  <c:v>59</c:v>
                </c:pt>
                <c:pt idx="62">
                  <c:v>60</c:v>
                </c:pt>
                <c:pt idx="63">
                  <c:v>61</c:v>
                </c:pt>
                <c:pt idx="64">
                  <c:v>62</c:v>
                </c:pt>
                <c:pt idx="65">
                  <c:v>63</c:v>
                </c:pt>
                <c:pt idx="66">
                  <c:v>64</c:v>
                </c:pt>
                <c:pt idx="67">
                  <c:v>65</c:v>
                </c:pt>
                <c:pt idx="68">
                  <c:v>66</c:v>
                </c:pt>
                <c:pt idx="69">
                  <c:v>67</c:v>
                </c:pt>
                <c:pt idx="70">
                  <c:v>68</c:v>
                </c:pt>
                <c:pt idx="71">
                  <c:v>69</c:v>
                </c:pt>
                <c:pt idx="72">
                  <c:v>70</c:v>
                </c:pt>
                <c:pt idx="73">
                  <c:v>71</c:v>
                </c:pt>
                <c:pt idx="74">
                  <c:v>72</c:v>
                </c:pt>
                <c:pt idx="75">
                  <c:v>73</c:v>
                </c:pt>
                <c:pt idx="76">
                  <c:v>74</c:v>
                </c:pt>
                <c:pt idx="77">
                  <c:v>75</c:v>
                </c:pt>
                <c:pt idx="78">
                  <c:v>75</c:v>
                </c:pt>
                <c:pt idx="79">
                  <c:v>76</c:v>
                </c:pt>
                <c:pt idx="80">
                  <c:v>77</c:v>
                </c:pt>
                <c:pt idx="81">
                  <c:v>78</c:v>
                </c:pt>
                <c:pt idx="82">
                  <c:v>79</c:v>
                </c:pt>
                <c:pt idx="83">
                  <c:v>80</c:v>
                </c:pt>
                <c:pt idx="84">
                  <c:v>81</c:v>
                </c:pt>
                <c:pt idx="85">
                  <c:v>82</c:v>
                </c:pt>
                <c:pt idx="86">
                  <c:v>83</c:v>
                </c:pt>
                <c:pt idx="87">
                  <c:v>84</c:v>
                </c:pt>
                <c:pt idx="88">
                  <c:v>85</c:v>
                </c:pt>
                <c:pt idx="89">
                  <c:v>86</c:v>
                </c:pt>
                <c:pt idx="90">
                  <c:v>87</c:v>
                </c:pt>
                <c:pt idx="91">
                  <c:v>88</c:v>
                </c:pt>
                <c:pt idx="92">
                  <c:v>89</c:v>
                </c:pt>
                <c:pt idx="93">
                  <c:v>90</c:v>
                </c:pt>
                <c:pt idx="94">
                  <c:v>91</c:v>
                </c:pt>
                <c:pt idx="95">
                  <c:v>92</c:v>
                </c:pt>
                <c:pt idx="96">
                  <c:v>93</c:v>
                </c:pt>
                <c:pt idx="97">
                  <c:v>94</c:v>
                </c:pt>
                <c:pt idx="98">
                  <c:v>95</c:v>
                </c:pt>
                <c:pt idx="99">
                  <c:v>96</c:v>
                </c:pt>
                <c:pt idx="100">
                  <c:v>97</c:v>
                </c:pt>
                <c:pt idx="101">
                  <c:v>98</c:v>
                </c:pt>
                <c:pt idx="102">
                  <c:v>99</c:v>
                </c:pt>
                <c:pt idx="103">
                  <c:v>100</c:v>
                </c:pt>
              </c:numCache>
            </c:numRef>
          </c:xVal>
          <c:yVal>
            <c:numRef>
              <c:f>Sheet1!$B$320:$B$423</c:f>
              <c:numCache>
                <c:formatCode>General</c:formatCode>
                <c:ptCount val="104"/>
                <c:pt idx="0">
                  <c:v>1</c:v>
                </c:pt>
                <c:pt idx="1">
                  <c:v>0.999753</c:v>
                </c:pt>
                <c:pt idx="2">
                  <c:v>0.99901300000000004</c:v>
                </c:pt>
                <c:pt idx="3">
                  <c:v>0.99778100000000003</c:v>
                </c:pt>
                <c:pt idx="4">
                  <c:v>0.99605699999999997</c:v>
                </c:pt>
                <c:pt idx="5">
                  <c:v>0.99384399999999995</c:v>
                </c:pt>
                <c:pt idx="6">
                  <c:v>0.99114400000000002</c:v>
                </c:pt>
                <c:pt idx="7">
                  <c:v>0.987958</c:v>
                </c:pt>
                <c:pt idx="8">
                  <c:v>0.98429199999999994</c:v>
                </c:pt>
                <c:pt idx="9">
                  <c:v>0.98014699999999999</c:v>
                </c:pt>
                <c:pt idx="10">
                  <c:v>0.97552799999999995</c:v>
                </c:pt>
                <c:pt idx="11">
                  <c:v>0.97043999999999997</c:v>
                </c:pt>
                <c:pt idx="12">
                  <c:v>0.96488799999999997</c:v>
                </c:pt>
                <c:pt idx="13">
                  <c:v>0.95887699999999998</c:v>
                </c:pt>
                <c:pt idx="14">
                  <c:v>0.95241399999999998</c:v>
                </c:pt>
                <c:pt idx="15">
                  <c:v>0.94550299999999998</c:v>
                </c:pt>
                <c:pt idx="16">
                  <c:v>0.93815300000000001</c:v>
                </c:pt>
                <c:pt idx="17">
                  <c:v>0.93037099999999995</c:v>
                </c:pt>
                <c:pt idx="18">
                  <c:v>0.92216399999999998</c:v>
                </c:pt>
                <c:pt idx="19">
                  <c:v>0.91354000000000002</c:v>
                </c:pt>
                <c:pt idx="20">
                  <c:v>0.90450799999999998</c:v>
                </c:pt>
                <c:pt idx="21">
                  <c:v>0.89507800000000004</c:v>
                </c:pt>
                <c:pt idx="22">
                  <c:v>0.88525699999999996</c:v>
                </c:pt>
                <c:pt idx="23">
                  <c:v>0.87505599999999994</c:v>
                </c:pt>
                <c:pt idx="24">
                  <c:v>0.86448400000000003</c:v>
                </c:pt>
                <c:pt idx="25">
                  <c:v>0.85355300000000001</c:v>
                </c:pt>
                <c:pt idx="26">
                  <c:v>0.85355300000000001</c:v>
                </c:pt>
                <c:pt idx="27">
                  <c:v>0.84227399999999997</c:v>
                </c:pt>
                <c:pt idx="28">
                  <c:v>0.83065599999999995</c:v>
                </c:pt>
                <c:pt idx="29">
                  <c:v>0.818712</c:v>
                </c:pt>
                <c:pt idx="30">
                  <c:v>0.806454</c:v>
                </c:pt>
                <c:pt idx="31">
                  <c:v>0.79389299999999996</c:v>
                </c:pt>
                <c:pt idx="32">
                  <c:v>0.78104200000000001</c:v>
                </c:pt>
                <c:pt idx="33">
                  <c:v>0.76791299999999996</c:v>
                </c:pt>
                <c:pt idx="34">
                  <c:v>0.754521</c:v>
                </c:pt>
                <c:pt idx="35">
                  <c:v>0.74087700000000001</c:v>
                </c:pt>
                <c:pt idx="36">
                  <c:v>0.72699499999999995</c:v>
                </c:pt>
                <c:pt idx="37">
                  <c:v>0.71289000000000002</c:v>
                </c:pt>
                <c:pt idx="38">
                  <c:v>0.69857400000000003</c:v>
                </c:pt>
                <c:pt idx="39">
                  <c:v>0.68406199999999995</c:v>
                </c:pt>
                <c:pt idx="40">
                  <c:v>0.66936899999999999</c:v>
                </c:pt>
                <c:pt idx="41">
                  <c:v>0.65450799999999998</c:v>
                </c:pt>
                <c:pt idx="42">
                  <c:v>0.63949599999999995</c:v>
                </c:pt>
                <c:pt idx="43">
                  <c:v>0.62434500000000004</c:v>
                </c:pt>
                <c:pt idx="44">
                  <c:v>0.60907199999999995</c:v>
                </c:pt>
                <c:pt idx="45">
                  <c:v>0.59369099999999997</c:v>
                </c:pt>
                <c:pt idx="46">
                  <c:v>0.57821699999999998</c:v>
                </c:pt>
                <c:pt idx="47">
                  <c:v>0.56266700000000003</c:v>
                </c:pt>
                <c:pt idx="48">
                  <c:v>0.54705400000000004</c:v>
                </c:pt>
                <c:pt idx="49">
                  <c:v>0.53139499999999995</c:v>
                </c:pt>
                <c:pt idx="50">
                  <c:v>0.51570499999999997</c:v>
                </c:pt>
                <c:pt idx="51">
                  <c:v>0.5</c:v>
                </c:pt>
                <c:pt idx="52">
                  <c:v>0.5</c:v>
                </c:pt>
                <c:pt idx="53">
                  <c:v>0.48429499999999998</c:v>
                </c:pt>
                <c:pt idx="54">
                  <c:v>0.46860499999999999</c:v>
                </c:pt>
                <c:pt idx="55">
                  <c:v>0.45294600000000002</c:v>
                </c:pt>
                <c:pt idx="56">
                  <c:v>0.43733300000000003</c:v>
                </c:pt>
                <c:pt idx="57">
                  <c:v>0.42178300000000002</c:v>
                </c:pt>
                <c:pt idx="58">
                  <c:v>0.40630899999999998</c:v>
                </c:pt>
                <c:pt idx="59">
                  <c:v>0.390928</c:v>
                </c:pt>
                <c:pt idx="60">
                  <c:v>0.37565500000000002</c:v>
                </c:pt>
                <c:pt idx="61">
                  <c:v>0.36050399999999999</c:v>
                </c:pt>
                <c:pt idx="62">
                  <c:v>0.34549200000000002</c:v>
                </c:pt>
                <c:pt idx="63">
                  <c:v>0.33063100000000001</c:v>
                </c:pt>
                <c:pt idx="64">
                  <c:v>0.315938</c:v>
                </c:pt>
                <c:pt idx="65">
                  <c:v>0.30142600000000003</c:v>
                </c:pt>
                <c:pt idx="66">
                  <c:v>0.28710999999999998</c:v>
                </c:pt>
                <c:pt idx="67">
                  <c:v>0.273005</c:v>
                </c:pt>
                <c:pt idx="68">
                  <c:v>0.25912299999999999</c:v>
                </c:pt>
                <c:pt idx="69">
                  <c:v>0.245479</c:v>
                </c:pt>
                <c:pt idx="70">
                  <c:v>0.23208699999999999</c:v>
                </c:pt>
                <c:pt idx="71">
                  <c:v>0.21895800000000001</c:v>
                </c:pt>
                <c:pt idx="72">
                  <c:v>0.20610700000000001</c:v>
                </c:pt>
                <c:pt idx="73">
                  <c:v>0.193546</c:v>
                </c:pt>
                <c:pt idx="74">
                  <c:v>0.181288</c:v>
                </c:pt>
                <c:pt idx="75">
                  <c:v>0.16934399999999999</c:v>
                </c:pt>
                <c:pt idx="76">
                  <c:v>0.15772600000000001</c:v>
                </c:pt>
                <c:pt idx="77">
                  <c:v>0.14644699999999999</c:v>
                </c:pt>
                <c:pt idx="78">
                  <c:v>0.14644699999999999</c:v>
                </c:pt>
                <c:pt idx="79">
                  <c:v>0.135516</c:v>
                </c:pt>
                <c:pt idx="80">
                  <c:v>0.124944</c:v>
                </c:pt>
                <c:pt idx="81">
                  <c:v>0.114743</c:v>
                </c:pt>
                <c:pt idx="82">
                  <c:v>0.104922</c:v>
                </c:pt>
                <c:pt idx="83">
                  <c:v>9.5491999999999994E-2</c:v>
                </c:pt>
                <c:pt idx="84">
                  <c:v>8.6459999999999995E-2</c:v>
                </c:pt>
                <c:pt idx="85">
                  <c:v>7.7836000000000002E-2</c:v>
                </c:pt>
                <c:pt idx="86">
                  <c:v>6.9628999999999996E-2</c:v>
                </c:pt>
                <c:pt idx="87">
                  <c:v>6.1846999999999999E-2</c:v>
                </c:pt>
                <c:pt idx="88">
                  <c:v>5.4496999999999997E-2</c:v>
                </c:pt>
                <c:pt idx="89">
                  <c:v>4.7586000000000003E-2</c:v>
                </c:pt>
                <c:pt idx="90">
                  <c:v>4.1123E-2</c:v>
                </c:pt>
                <c:pt idx="91">
                  <c:v>3.5111999999999997E-2</c:v>
                </c:pt>
                <c:pt idx="92">
                  <c:v>2.9559999999999999E-2</c:v>
                </c:pt>
                <c:pt idx="93">
                  <c:v>2.4472000000000001E-2</c:v>
                </c:pt>
                <c:pt idx="94">
                  <c:v>1.9852999999999999E-2</c:v>
                </c:pt>
                <c:pt idx="95">
                  <c:v>1.5708E-2</c:v>
                </c:pt>
                <c:pt idx="96">
                  <c:v>1.2042000000000001E-2</c:v>
                </c:pt>
                <c:pt idx="97">
                  <c:v>8.8559999999999993E-3</c:v>
                </c:pt>
                <c:pt idx="98">
                  <c:v>6.156E-3</c:v>
                </c:pt>
                <c:pt idx="99">
                  <c:v>3.9430000000000003E-3</c:v>
                </c:pt>
                <c:pt idx="100">
                  <c:v>2.2190000000000001E-3</c:v>
                </c:pt>
                <c:pt idx="101">
                  <c:v>9.8700000000000003E-4</c:v>
                </c:pt>
                <c:pt idx="102">
                  <c:v>2.4699999999999999E-4</c:v>
                </c:pt>
                <c:pt idx="10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99C-844B-952B-4C2BDB1C4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000"/>
        <c:axId val="500001"/>
      </c:scatterChart>
      <c:valAx>
        <c:axId val="500000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GB" sz="1500" b="0">
                    <a:solidFill>
                      <a:srgbClr val="1B2A3A"/>
                    </a:solidFill>
                    <a:latin typeface="Arial"/>
                  </a:rPr>
                  <a:t>epoch 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A929C"/>
            </a:solidFill>
          </a:ln>
        </c:spPr>
        <c:txPr>
          <a:bodyPr/>
          <a:lstStyle/>
          <a:p>
            <a:pPr>
              <a:defRPr sz="1300"/>
            </a:pPr>
            <a:endParaRPr lang="en-FR"/>
          </a:p>
        </c:txPr>
        <c:crossAx val="500001"/>
        <c:crosses val="autoZero"/>
        <c:crossBetween val="midCat"/>
        <c:majorUnit val="25"/>
      </c:valAx>
      <c:valAx>
        <c:axId val="500001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4E3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l-GR" sz="1500" b="0">
                    <a:solidFill>
                      <a:srgbClr val="1B2A3A"/>
                    </a:solidFill>
                    <a:latin typeface="Arial"/>
                  </a:rPr>
                  <a:t>η</a:t>
                </a:r>
                <a:r>
                  <a:rPr lang="en-GB" sz="1500" b="0">
                    <a:solidFill>
                      <a:srgbClr val="1B2A3A"/>
                    </a:solidFill>
                    <a:latin typeface="Arial"/>
                  </a:rPr>
                  <a:t>ₖ / </a:t>
                </a:r>
                <a:r>
                  <a:rPr lang="el-GR" sz="1500" b="0">
                    <a:solidFill>
                      <a:srgbClr val="1B2A3A"/>
                    </a:solidFill>
                    <a:latin typeface="Arial"/>
                  </a:rPr>
                  <a:t>η₀</a:t>
                </a:r>
              </a:p>
            </c:rich>
          </c:tx>
          <c:overlay val="0"/>
        </c:title>
        <c:numFmt formatCode="0.##" sourceLinked="0"/>
        <c:majorTickMark val="out"/>
        <c:minorTickMark val="none"/>
        <c:tickLblPos val="nextTo"/>
        <c:spPr>
          <a:ln>
            <a:solidFill>
              <a:srgbClr val="8A929C"/>
            </a:solidFill>
          </a:ln>
        </c:spPr>
        <c:txPr>
          <a:bodyPr/>
          <a:lstStyle/>
          <a:p>
            <a:pPr>
              <a:defRPr sz="1300"/>
            </a:pPr>
            <a:endParaRPr lang="en-FR"/>
          </a:p>
        </c:txPr>
        <c:crossAx val="500000"/>
        <c:crosses val="autoZero"/>
        <c:crossBetween val="midCat"/>
        <c:majorUnit val="0.25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B2A3A"/>
              </a:solidFill>
            </a:defRPr>
          </a:pPr>
          <a:endParaRPr lang="en-FR"/>
        </a:p>
      </c:txPr>
    </c:legend>
    <c:plotVisOnly val="1"/>
    <c:dispBlanksAs val="gap"/>
    <c:showDLblsOverMax val="0"/>
  </c:chart>
  <c:txPr>
    <a:bodyPr/>
    <a:lstStyle/>
    <a:p>
      <a:pPr>
        <a:defRPr sz="1300">
          <a:solidFill>
            <a:srgbClr val="4A566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20FA2-F3EC-674E-AF93-2870DDA685D2}" type="datetimeFigureOut">
              <a:rPr lang="en-FR" smtClean="0"/>
              <a:t>26/10/2026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DFC123-87BD-BE4D-A55D-C907A221E15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37396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loss is computed on the training set only. Validation and test data are never used to compute gradients. Normalization: x̃ = (x − μ)/s, or min-max to [−1, 1]; the statistics come from the training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Second-order condition: L″(θ*) &gt; 0 gives a strict local minimum (Hessian positive definite in d dimensions). In high dimension most critical points are saddle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Along a level line ℒ does not change, so ∇ℒ·h = 0 for h tangent: the gradient is normal to the level line. Among all steps of a given length, ∇ℒ·h is most negative for h = −∇ℒ: steepest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step moves perpendicular to the level line, downhill. The steps shrink near θ* because ∇ℒ → 0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ℒ(θ) is a smoothed |θ|: far away the slope is constant, so a large η is fine; near θ* the curvature is large, so the same η makes θ jump from one side to the other forever. Real losses behave the same way at small scales, and mini-batch noise makes it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Other common choices: ReduceLROnPlateau (divide η when the validation loss stops improving), and a short linear warm-up at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m: momentum (damps the zig-zag of gradient descent). v: per-parameter scaling (each parameter gets its own step, about η in size). PyTorch calls η "lr".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MLP 1 → 64 → 64 → 1 (tanh), 18 noisy training points, Adam η = 3·10⁻³, full batch. The network learns the noise: zero training error, large validation error. Remedies: early stopping, a smaller network, more data, regularization.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 (plays in slideshow): N = 48 points, shuffled every epoch into 4 batches of B = 12 (colors). Each batch moves θ once. The training loss is noisy but goes down much faster per epoch than with the full batch. B = N: full batch; B = 1: “SGD”.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L-BFGS keeps the last pairs (θ step, gradient change) to approximate the inverse Hessian (Liu &amp; Nocedal, 1989). Adam brings θ into a good valley; L-BFGS then converges much further. Note the Adam spikes: η too large near the minimum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Target sin 2πx + 0.5 sin(2π·10x), 200 points, Adam η = 10⁻³. Plain MLP MSE 0.077 after 3000 iterations; with Fourier features (σ_B = 10) MSE 6.5·10⁻⁷.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network [256, 128, 128, 128, 1] ReLU, Adam 10⁻³, batches of 64, 30 epochs. dB: validation PSNR = 10 log₁₀(1/MSE).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left"/>
          <p:cNvSpPr/>
          <p:nvPr/>
        </p:nvSpPr>
        <p:spPr>
          <a:xfrm>
            <a:off x="0" y="6530340"/>
            <a:ext cx="3299460" cy="3276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Footer middle"/>
          <p:cNvSpPr/>
          <p:nvPr/>
        </p:nvSpPr>
        <p:spPr>
          <a:xfrm>
            <a:off x="3299460" y="6530340"/>
            <a:ext cx="7620000" cy="32766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Footer right"/>
          <p:cNvSpPr/>
          <p:nvPr/>
        </p:nvSpPr>
        <p:spPr>
          <a:xfrm>
            <a:off x="10919460" y="6530340"/>
            <a:ext cx="1272540" cy="3276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Footer author"/>
          <p:cNvSpPr txBox="1"/>
          <p:nvPr/>
        </p:nvSpPr>
        <p:spPr>
          <a:xfrm>
            <a:off x="0" y="6530340"/>
            <a:ext cx="3299460" cy="3276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Nassim RAZAALY</a:t>
            </a:r>
            <a:endParaRPr lang="en-US" sz="1150"/>
          </a:p>
        </p:txBody>
      </p:sp>
      <p:sp>
        <p:nvSpPr>
          <p:cNvPr id="6" name="Footer title"/>
          <p:cNvSpPr txBox="1"/>
          <p:nvPr/>
        </p:nvSpPr>
        <p:spPr>
          <a:xfrm>
            <a:off x="3299460" y="6530340"/>
            <a:ext cx="7620000" cy="3276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 to ML · Supervised learning</a:t>
            </a:r>
            <a:endParaRPr lang="en-US" sz="1150"/>
          </a:p>
        </p:txBody>
      </p:sp>
      <p:sp>
        <p:nvSpPr>
          <p:cNvPr id="7" name="Footer slide number"/>
          <p:cNvSpPr txBox="1"/>
          <p:nvPr/>
        </p:nvSpPr>
        <p:spPr>
          <a:xfrm>
            <a:off x="10919460" y="6530340"/>
            <a:ext cx="1272540" cy="3276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B6F15528-21DE-4FAA-801E-634DDDAF4B2B}" type="slidenum"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/ 29</a:t>
            </a:r>
            <a:endParaRPr lang="en-US" sz="115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147828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50" b="1" i="0" spc="200">
                <a:solidFill>
                  <a:srgbClr val="2F5D8C"/>
                </a:solidFill>
                <a:latin typeface="Arial"/>
                <a:ea typeface="Arial"/>
                <a:cs typeface="Arial"/>
              </a:rPr>
              <a:t>PINNS COURSE · PART 1</a:t>
            </a:r>
            <a:endParaRPr lang="en-US" sz="1250"/>
          </a:p>
        </p:txBody>
      </p:sp>
      <p:sp>
        <p:nvSpPr>
          <p:cNvPr id="3" name="Title"/>
          <p:cNvSpPr txBox="1"/>
          <p:nvPr/>
        </p:nvSpPr>
        <p:spPr>
          <a:xfrm>
            <a:off x="457200" y="1851660"/>
            <a:ext cx="56388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44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Introduction to Machine Learning: Supervised Learning</a:t>
            </a:r>
            <a:endParaRPr lang="en-US" sz="4400"/>
          </a:p>
        </p:txBody>
      </p:sp>
      <p:sp>
        <p:nvSpPr>
          <p:cNvPr id="4" name="Subtitle"/>
          <p:cNvSpPr txBox="1"/>
          <p:nvPr/>
        </p:nvSpPr>
        <p:spPr>
          <a:xfrm>
            <a:off x="457200" y="3810000"/>
            <a:ext cx="563880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0" i="1">
                <a:solidFill>
                  <a:srgbClr val="4A5663"/>
                </a:solidFill>
                <a:latin typeface="Times New Roman"/>
                <a:ea typeface="Times New Roman"/>
                <a:cs typeface="Times New Roman"/>
              </a:rPr>
              <a:t>Neural networks, losses and optimizers</a:t>
            </a:r>
            <a:endParaRPr lang="en-US" sz="1950"/>
          </a:p>
        </p:txBody>
      </p:sp>
      <p:sp>
        <p:nvSpPr>
          <p:cNvPr id="5" name="Rule"/>
          <p:cNvSpPr/>
          <p:nvPr/>
        </p:nvSpPr>
        <p:spPr>
          <a:xfrm>
            <a:off x="457200" y="4358640"/>
            <a:ext cx="762000" cy="3810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Author"/>
          <p:cNvSpPr txBox="1"/>
          <p:nvPr/>
        </p:nvSpPr>
        <p:spPr>
          <a:xfrm>
            <a:off x="457200" y="4587240"/>
            <a:ext cx="457200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Nassim RAZAALY</a:t>
            </a:r>
            <a:endParaRPr lang="en-US" sz="1650"/>
          </a:p>
        </p:txBody>
      </p:sp>
      <p:sp>
        <p:nvSpPr>
          <p:cNvPr id="7" name="Version"/>
          <p:cNvSpPr txBox="1"/>
          <p:nvPr/>
        </p:nvSpPr>
        <p:spPr>
          <a:xfrm>
            <a:off x="457200" y="5059680"/>
            <a:ext cx="45720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v1 · 14/10/26</a:t>
            </a:r>
            <a:endParaRPr lang="en-US" sz="1300"/>
          </a:p>
        </p:txBody>
      </p:sp>
      <p:pic>
        <p:nvPicPr>
          <p:cNvPr id="8" name="MLP diagram" descr="s0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943100"/>
            <a:ext cx="544830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Kinds of learning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Three ways to learn</a:t>
            </a:r>
            <a:endParaRPr lang="en-US" sz="2800"/>
          </a:p>
        </p:txBody>
      </p:sp>
      <p:pic>
        <p:nvPicPr>
          <p:cNvPr id="11" name="Three kinds of learning" descr="s0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3960"/>
            <a:ext cx="11277600" cy="2819400"/>
          </a:xfrm>
          <a:prstGeom prst="rect">
            <a:avLst/>
          </a:prstGeom>
        </p:spPr>
      </p:pic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147811"/>
              </p:ext>
            </p:extLst>
          </p:nvPr>
        </p:nvGraphicFramePr>
        <p:xfrm>
          <a:off x="457200" y="4191000"/>
          <a:ext cx="11277600" cy="14706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7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6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Learning</a:t>
                      </a: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B2A3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B2A3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B2A3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B2A3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F5D8C"/>
                          </a:solidFill>
                          <a:latin typeface="Arial"/>
                          <a:ea typeface="Arial"/>
                          <a:cs typeface="Arial"/>
                        </a:rPr>
                        <a:t>Supervised</a:t>
                      </a: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B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pairs (</a:t>
                      </a:r>
                      <a:r>
                        <a:rPr sz="1400" b="1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400" b="0" i="0" baseline="-2500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400" b="1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  <a:r>
                        <a:rPr sz="1400" b="0" i="0" baseline="-2500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B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predict </a:t>
                      </a:r>
                      <a:r>
                        <a:rPr sz="1400" b="1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 for a new </a:t>
                      </a:r>
                      <a:r>
                        <a:rPr sz="1400" b="1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B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image labels, translation, weather, </a:t>
                      </a:r>
                      <a:r>
                        <a:rPr sz="1400" b="1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PINNs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B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E7D6B"/>
                          </a:solidFill>
                          <a:latin typeface="Arial"/>
                          <a:ea typeface="Arial"/>
                          <a:cs typeface="Arial"/>
                        </a:rPr>
                        <a:t>Unsupervised</a:t>
                      </a: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400" b="0" i="0" baseline="-2500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 only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find structure, groups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similar songs or listeners, anomaly detection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9B2C3C"/>
                          </a:solidFill>
                          <a:latin typeface="Arial"/>
                          <a:ea typeface="Arial"/>
                          <a:cs typeface="Arial"/>
                        </a:rPr>
                        <a:t>Reinforcement</a:t>
                      </a: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actions, rewards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a strategy with high reward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AlphaGo, robotics</a:t>
                      </a:r>
                      <a:r>
                        <a:rPr lang="fr-FR" sz="1400" b="0" i="0" dirty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lang="fr-FR" sz="1400" b="0" i="0" dirty="0" err="1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ChatGPT</a:t>
                      </a:r>
                      <a:endParaRPr sz="1400" b="0" i="0" dirty="0">
                        <a:solidFill>
                          <a:srgbClr val="1B2A3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This course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This course: neural networks for supervised learning</a:t>
            </a:r>
            <a:endParaRPr lang="en-US" sz="2800"/>
          </a:p>
        </p:txBody>
      </p:sp>
      <p:sp>
        <p:nvSpPr>
          <p:cNvPr id="11" name="Step I · PROBLEM accent"/>
          <p:cNvSpPr/>
          <p:nvPr/>
        </p:nvSpPr>
        <p:spPr>
          <a:xfrm>
            <a:off x="457200" y="1379220"/>
            <a:ext cx="1828800" cy="784860"/>
          </a:xfrm>
          <a:prstGeom prst="roundRect">
            <a:avLst>
              <a:gd name="adj" fmla="val 6796"/>
            </a:avLst>
          </a:prstGeom>
          <a:solidFill>
            <a:srgbClr val="2F5D8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Step I · PROBLEM"/>
          <p:cNvSpPr/>
          <p:nvPr/>
        </p:nvSpPr>
        <p:spPr>
          <a:xfrm>
            <a:off x="457200" y="1417320"/>
            <a:ext cx="1828800" cy="7467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I · PROBLEM"/>
          <p:cNvSpPr txBox="1"/>
          <p:nvPr/>
        </p:nvSpPr>
        <p:spPr>
          <a:xfrm>
            <a:off x="594360" y="1485900"/>
            <a:ext cx="1600200" cy="6324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1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I · PROBLEM</a:t>
            </a:r>
            <a:endParaRPr lang="en-US" sz="1300"/>
          </a:p>
          <a:p>
            <a:pPr algn="l">
              <a:buNone/>
            </a:pP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data (</a:t>
            </a:r>
            <a:r>
              <a:rPr sz="150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x</a:t>
            </a:r>
            <a:r>
              <a:rPr sz="1500" b="0" i="0" baseline="-25000">
                <a:solidFill>
                  <a:srgbClr val="1B2A3A"/>
                </a:solidFill>
                <a:latin typeface="Arial"/>
                <a:ea typeface="Arial"/>
                <a:cs typeface="Arial"/>
              </a:rPr>
              <a:t>i</a:t>
            </a: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, </a:t>
            </a:r>
            <a:r>
              <a:rPr sz="150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y</a:t>
            </a:r>
            <a:r>
              <a:rPr sz="1500" b="0" i="0" baseline="-25000">
                <a:solidFill>
                  <a:srgbClr val="1B2A3A"/>
                </a:solidFill>
                <a:latin typeface="Arial"/>
                <a:ea typeface="Arial"/>
                <a:cs typeface="Arial"/>
              </a:rPr>
              <a:t>i</a:t>
            </a: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)</a:t>
            </a:r>
            <a:endParaRPr lang="en-US" sz="1500"/>
          </a:p>
        </p:txBody>
      </p:sp>
      <p:sp>
        <p:nvSpPr>
          <p:cNvPr id="14" name="Step II · MODEL accent"/>
          <p:cNvSpPr/>
          <p:nvPr/>
        </p:nvSpPr>
        <p:spPr>
          <a:xfrm>
            <a:off x="2819400" y="1257300"/>
            <a:ext cx="1828800" cy="1028700"/>
          </a:xfrm>
          <a:prstGeom prst="roundRect">
            <a:avLst>
              <a:gd name="adj" fmla="val 5185"/>
            </a:avLst>
          </a:prstGeom>
          <a:solidFill>
            <a:srgbClr val="2F5D8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Step II · MODEL"/>
          <p:cNvSpPr/>
          <p:nvPr/>
        </p:nvSpPr>
        <p:spPr>
          <a:xfrm>
            <a:off x="2819400" y="1295400"/>
            <a:ext cx="1828800" cy="9906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II · MODEL"/>
          <p:cNvSpPr txBox="1"/>
          <p:nvPr/>
        </p:nvSpPr>
        <p:spPr>
          <a:xfrm>
            <a:off x="2956560" y="1363980"/>
            <a:ext cx="16002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1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II · MODEL</a:t>
            </a:r>
            <a:endParaRPr lang="en-US" sz="1300"/>
          </a:p>
          <a:p>
            <a:pPr algn="l">
              <a:buNone/>
            </a:pP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MLP f̃ with parameters </a:t>
            </a:r>
            <a:r>
              <a:rPr sz="150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θ</a:t>
            </a:r>
            <a:endParaRPr lang="en-US" sz="1500"/>
          </a:p>
        </p:txBody>
      </p:sp>
      <p:sp>
        <p:nvSpPr>
          <p:cNvPr id="17" name="Step III · TRAINING accent"/>
          <p:cNvSpPr/>
          <p:nvPr/>
        </p:nvSpPr>
        <p:spPr>
          <a:xfrm>
            <a:off x="5181600" y="1257300"/>
            <a:ext cx="1828800" cy="1028700"/>
          </a:xfrm>
          <a:prstGeom prst="roundRect">
            <a:avLst>
              <a:gd name="adj" fmla="val 5185"/>
            </a:avLst>
          </a:prstGeom>
          <a:solidFill>
            <a:srgbClr val="2F5D8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Step III · TRAINING"/>
          <p:cNvSpPr/>
          <p:nvPr/>
        </p:nvSpPr>
        <p:spPr>
          <a:xfrm>
            <a:off x="5181600" y="1295400"/>
            <a:ext cx="1828800" cy="9906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III · TRAINING"/>
          <p:cNvSpPr txBox="1"/>
          <p:nvPr/>
        </p:nvSpPr>
        <p:spPr>
          <a:xfrm>
            <a:off x="5318760" y="1363980"/>
            <a:ext cx="16002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1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III · TRAINING</a:t>
            </a:r>
            <a:endParaRPr lang="en-US" sz="1300"/>
          </a:p>
          <a:p>
            <a:pPr algn="l">
              <a:buNone/>
            </a:pP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loss ℒ(</a:t>
            </a:r>
            <a:r>
              <a:rPr sz="150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θ</a:t>
            </a: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), data split</a:t>
            </a:r>
            <a:endParaRPr lang="en-US" sz="1500"/>
          </a:p>
        </p:txBody>
      </p:sp>
      <p:sp>
        <p:nvSpPr>
          <p:cNvPr id="20" name="Step IV · OPTIMIZATION accent"/>
          <p:cNvSpPr/>
          <p:nvPr/>
        </p:nvSpPr>
        <p:spPr>
          <a:xfrm>
            <a:off x="7543800" y="1257300"/>
            <a:ext cx="1828800" cy="1028700"/>
          </a:xfrm>
          <a:prstGeom prst="roundRect">
            <a:avLst>
              <a:gd name="adj" fmla="val 5185"/>
            </a:avLst>
          </a:prstGeom>
          <a:solidFill>
            <a:srgbClr val="2F5D8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Step IV · OPTIMIZATION"/>
          <p:cNvSpPr/>
          <p:nvPr/>
        </p:nvSpPr>
        <p:spPr>
          <a:xfrm>
            <a:off x="7543800" y="1295400"/>
            <a:ext cx="1828800" cy="9906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2" name="IV · OPTIMIZATION"/>
          <p:cNvSpPr txBox="1"/>
          <p:nvPr/>
        </p:nvSpPr>
        <p:spPr>
          <a:xfrm>
            <a:off x="7680960" y="1363980"/>
            <a:ext cx="16002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1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IV · OPTIMIZATION</a:t>
            </a:r>
            <a:endParaRPr lang="en-US" sz="1300"/>
          </a:p>
          <a:p>
            <a:pPr algn="l">
              <a:buNone/>
            </a:pP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gradients, Adam, L-BFGS</a:t>
            </a:r>
            <a:endParaRPr lang="en-US" sz="1500"/>
          </a:p>
        </p:txBody>
      </p:sp>
      <p:sp>
        <p:nvSpPr>
          <p:cNvPr id="23" name="Step V · IN PRACTICE accent"/>
          <p:cNvSpPr/>
          <p:nvPr/>
        </p:nvSpPr>
        <p:spPr>
          <a:xfrm>
            <a:off x="9906000" y="1379220"/>
            <a:ext cx="1828800" cy="784860"/>
          </a:xfrm>
          <a:prstGeom prst="roundRect">
            <a:avLst>
              <a:gd name="adj" fmla="val 6796"/>
            </a:avLst>
          </a:prstGeom>
          <a:solidFill>
            <a:srgbClr val="9B2C3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4" name="Step V · IN PRACTICE"/>
          <p:cNvSpPr/>
          <p:nvPr/>
        </p:nvSpPr>
        <p:spPr>
          <a:xfrm>
            <a:off x="9906000" y="1417320"/>
            <a:ext cx="1828800" cy="7467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5" name="V · IN PRACTICE"/>
          <p:cNvSpPr txBox="1"/>
          <p:nvPr/>
        </p:nvSpPr>
        <p:spPr>
          <a:xfrm>
            <a:off x="10043160" y="1485900"/>
            <a:ext cx="1600200" cy="6324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1" i="0">
                <a:solidFill>
                  <a:srgbClr val="9B2C3C"/>
                </a:solidFill>
                <a:latin typeface="Arial"/>
                <a:ea typeface="Arial"/>
                <a:cs typeface="Arial"/>
              </a:rPr>
              <a:t>V · IN PRACTICE</a:t>
            </a:r>
            <a:endParaRPr lang="en-US" sz="1300"/>
          </a:p>
          <a:p>
            <a:pPr algn="l">
              <a:buNone/>
            </a:pP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PyTorch, a recipe</a:t>
            </a:r>
            <a:endParaRPr lang="en-US" sz="1500"/>
          </a:p>
        </p:txBody>
      </p:sp>
      <p:sp>
        <p:nvSpPr>
          <p:cNvPr id="26" name="Arrow"/>
          <p:cNvSpPr/>
          <p:nvPr/>
        </p:nvSpPr>
        <p:spPr>
          <a:xfrm>
            <a:off x="2400300" y="1699260"/>
            <a:ext cx="304800" cy="152400"/>
          </a:xfrm>
          <a:prstGeom prst="rightArrow">
            <a:avLst/>
          </a:prstGeom>
          <a:solidFill>
            <a:srgbClr val="6B748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7" name="Arrow"/>
          <p:cNvSpPr/>
          <p:nvPr/>
        </p:nvSpPr>
        <p:spPr>
          <a:xfrm>
            <a:off x="4762500" y="1699260"/>
            <a:ext cx="304800" cy="152400"/>
          </a:xfrm>
          <a:prstGeom prst="rightArrow">
            <a:avLst/>
          </a:prstGeom>
          <a:solidFill>
            <a:srgbClr val="6B748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8" name="Arrow"/>
          <p:cNvSpPr/>
          <p:nvPr/>
        </p:nvSpPr>
        <p:spPr>
          <a:xfrm>
            <a:off x="7124700" y="1699260"/>
            <a:ext cx="304800" cy="152400"/>
          </a:xfrm>
          <a:prstGeom prst="rightArrow">
            <a:avLst/>
          </a:prstGeom>
          <a:solidFill>
            <a:srgbClr val="6B748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Arrow"/>
          <p:cNvSpPr/>
          <p:nvPr/>
        </p:nvSpPr>
        <p:spPr>
          <a:xfrm>
            <a:off x="9486900" y="1699260"/>
            <a:ext cx="304800" cy="152400"/>
          </a:xfrm>
          <a:prstGeom prst="rightArrow">
            <a:avLst/>
          </a:prstGeom>
          <a:solidFill>
            <a:srgbClr val="6B748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0" name="Card"/>
          <p:cNvSpPr/>
          <p:nvPr/>
        </p:nvSpPr>
        <p:spPr>
          <a:xfrm>
            <a:off x="457200" y="2484120"/>
            <a:ext cx="5562600" cy="383286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1" name="Why neural networks"/>
          <p:cNvSpPr txBox="1"/>
          <p:nvPr/>
        </p:nvSpPr>
        <p:spPr>
          <a:xfrm>
            <a:off x="655320" y="2628900"/>
            <a:ext cx="5181600" cy="3581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</a:pPr>
            <a:r>
              <a:rPr sz="1650" b="1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Why neural networks?</a:t>
            </a:r>
            <a:endParaRPr lang="en-US" sz="1650"/>
          </a:p>
          <a:p>
            <a:pPr marL="161925" indent="-161925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they can approximate any continuous function (part II);</a:t>
            </a:r>
            <a:endParaRPr lang="en-US" sz="1500"/>
          </a:p>
          <a:p>
            <a:pPr marL="161925" indent="-161925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their parameters are found by gradient methods, at any scale (part IV);</a:t>
            </a:r>
            <a:endParaRPr lang="en-US" sz="1500"/>
          </a:p>
          <a:p>
            <a:pPr marL="161925" indent="-161925" algn="l">
              <a:lnSpc>
                <a:spcPct val="108000"/>
              </a:lnSpc>
              <a:buFont typeface="Arial"/>
              <a:buChar char="•"/>
            </a:pP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they are differentiable with respect to their inputs: derivatives ∂ũ/∂x, ∂ũ/∂t are computed exactly by automatic differentiation, which is what PINNs need.</a:t>
            </a:r>
            <a:endParaRPr lang="en-US" sz="1500"/>
          </a:p>
        </p:txBody>
      </p:sp>
      <p:sp>
        <p:nvSpPr>
          <p:cNvPr id="32" name="Card"/>
          <p:cNvSpPr/>
          <p:nvPr/>
        </p:nvSpPr>
        <p:spPr>
          <a:xfrm>
            <a:off x="6172200" y="2484120"/>
            <a:ext cx="5562600" cy="383286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3" name="Why the MLP"/>
          <p:cNvSpPr txBox="1"/>
          <p:nvPr/>
        </p:nvSpPr>
        <p:spPr>
          <a:xfrm>
            <a:off x="6370320" y="2628900"/>
            <a:ext cx="5181600" cy="3581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  <a:buNone/>
            </a:pPr>
            <a:r>
              <a:rPr sz="1650" b="1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Why the MLP?</a:t>
            </a:r>
            <a:endParaRPr lang="en-US" sz="1650"/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The simplest network: layers of neurons, fully connected. It is the standard model of PINNs, and the building block of larger architectures.</a:t>
            </a:r>
            <a:endParaRPr lang="en-US" sz="1500"/>
          </a:p>
          <a:p>
            <a:pPr algn="l">
              <a:lnSpc>
                <a:spcPct val="108000"/>
              </a:lnSpc>
              <a:buNone/>
            </a:pPr>
            <a:r>
              <a:rPr sz="150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Notation: vectors in bold (</a:t>
            </a:r>
            <a:r>
              <a:rPr sz="1500" b="1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x</a:t>
            </a:r>
            <a:r>
              <a:rPr sz="150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, </a:t>
            </a:r>
            <a:r>
              <a:rPr sz="1500" b="1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y</a:t>
            </a:r>
            <a:r>
              <a:rPr sz="150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, </a:t>
            </a:r>
            <a:r>
              <a:rPr sz="1500" b="1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θ</a:t>
            </a:r>
            <a:r>
              <a:rPr sz="150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), N samples, d parameters, L layers.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Supervised learning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 dirty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I.</a:t>
            </a:r>
            <a:r>
              <a:rPr sz="2800" b="1" i="0" dirty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Learning a function from </a:t>
            </a:r>
            <a:r>
              <a:rPr lang="fr-FR" sz="2800" b="1" dirty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input/output pairs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uation"/>
              <p:cNvSpPr txBox="1"/>
              <p:nvPr/>
            </p:nvSpPr>
            <p:spPr>
              <a:xfrm>
                <a:off x="510540" y="1219620"/>
                <a:ext cx="4867828" cy="34968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𝑓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: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→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,  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𝒙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↦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𝒚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unknown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" y="1219620"/>
                <a:ext cx="4867828" cy="349681"/>
              </a:xfrm>
              <a:prstGeom prst="rect">
                <a:avLst/>
              </a:prstGeom>
              <a:blipFill>
                <a:blip r:embed="rId2"/>
                <a:stretch>
                  <a:fillRect l="-2344" b="-25000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uation"/>
              <p:cNvSpPr txBox="1"/>
              <p:nvPr/>
            </p:nvSpPr>
            <p:spPr>
              <a:xfrm>
                <a:off x="510540" y="1657655"/>
                <a:ext cx="5208985" cy="38800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𝒟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}</m:t>
                          </m:r>
                        </m:e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𝑁</m:t>
                          </m:r>
                        </m:sup>
                      </m:sSubSup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,  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𝜺</m:t>
                          </m:r>
                        </m:e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noise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" y="1657655"/>
                <a:ext cx="5208985" cy="388009"/>
              </a:xfrm>
              <a:prstGeom prst="rect">
                <a:avLst/>
              </a:prstGeom>
              <a:blipFill>
                <a:blip r:embed="rId3"/>
                <a:stretch>
                  <a:fillRect l="-1460" b="-12500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quation box"/>
          <p:cNvSpPr/>
          <p:nvPr/>
        </p:nvSpPr>
        <p:spPr>
          <a:xfrm>
            <a:off x="5326380" y="1310640"/>
            <a:ext cx="5791200" cy="655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"/>
              <p:cNvSpPr txBox="1"/>
              <p:nvPr/>
            </p:nvSpPr>
            <p:spPr>
              <a:xfrm>
                <a:off x="5245425" y="1451230"/>
                <a:ext cx="5953110" cy="37414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find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𝜽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such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that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8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≈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425" y="1451230"/>
                <a:ext cx="5953110" cy="374141"/>
              </a:xfrm>
              <a:prstGeom prst="rect">
                <a:avLst/>
              </a:prstGeom>
              <a:blipFill>
                <a:blip r:embed="rId4"/>
                <a:stretch>
                  <a:fillRect t="-20000" b="-56667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rd"/>
          <p:cNvSpPr/>
          <p:nvPr/>
        </p:nvSpPr>
        <p:spPr>
          <a:xfrm>
            <a:off x="457200" y="2209800"/>
            <a:ext cx="5471160" cy="3550920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Example 1"/>
          <p:cNvSpPr txBox="1"/>
          <p:nvPr/>
        </p:nvSpPr>
        <p:spPr>
          <a:xfrm>
            <a:off x="594360" y="2270760"/>
            <a:ext cx="52578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0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Example 1 · n = m = 1, N = 200 noisy samples</a:t>
            </a:r>
            <a:endParaRPr lang="en-US" sz="1500"/>
          </a:p>
        </p:txBody>
      </p:sp>
      <p:pic>
        <p:nvPicPr>
          <p:cNvPr id="17" name="Example 1 plot" descr="s05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29840"/>
            <a:ext cx="5212080" cy="3147060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6111240" y="2209800"/>
            <a:ext cx="5623560" cy="3627120"/>
          </a:xfrm>
          <a:prstGeom prst="roundRect">
            <a:avLst>
              <a:gd name="adj" fmla="val 1470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Example 2"/>
          <p:cNvSpPr txBox="1"/>
          <p:nvPr/>
        </p:nvSpPr>
        <p:spPr>
          <a:xfrm>
            <a:off x="6233160" y="2270760"/>
            <a:ext cx="53340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0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Example 2 · an image is a function</a:t>
            </a:r>
            <a:endParaRPr lang="en-US" sz="1500"/>
          </a:p>
        </p:txBody>
      </p:sp>
      <p:pic>
        <p:nvPicPr>
          <p:cNvPr id="20" name="Example 2 image" descr="s05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9940" y="2514600"/>
            <a:ext cx="3566160" cy="2956560"/>
          </a:xfrm>
          <a:prstGeom prst="rect">
            <a:avLst/>
          </a:prstGeom>
        </p:spPr>
      </p:pic>
      <p:sp>
        <p:nvSpPr>
          <p:cNvPr id="21" name="Caption"/>
          <p:cNvSpPr txBox="1"/>
          <p:nvPr/>
        </p:nvSpPr>
        <p:spPr>
          <a:xfrm>
            <a:off x="6233160" y="5509260"/>
            <a:ext cx="53340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f : [−1, 1]² → [0, 1], n = 2, m = 1, N = 128² = 16 384 pixels</a:t>
            </a:r>
            <a:endParaRPr lang="en-US" sz="1400"/>
          </a:p>
        </p:txBody>
      </p:sp>
      <p:sp>
        <p:nvSpPr>
          <p:cNvPr id="22" name="Parametric model"/>
          <p:cNvSpPr txBox="1"/>
          <p:nvPr/>
        </p:nvSpPr>
        <p:spPr>
          <a:xfrm>
            <a:off x="457200" y="5981700"/>
            <a:ext cx="1143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50" b="1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Parametric model:</a:t>
            </a:r>
            <a:r>
              <a:rPr sz="145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f̃ is chosen in a family indexed by </a:t>
            </a:r>
            <a:r>
              <a:rPr sz="1450" b="1" i="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θ</a:t>
            </a:r>
            <a:r>
              <a:rPr sz="145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∈ </a:t>
            </a:r>
            <a:r>
              <a:rPr sz="1450" b="0" i="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ℝ</a:t>
            </a:r>
            <a:r>
              <a:rPr sz="1450" b="0" i="0" baseline="3000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d</a:t>
            </a:r>
            <a:r>
              <a:rPr sz="145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. 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Linear model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A first model: linear least squares</a:t>
            </a:r>
            <a:endParaRPr lang="en-US" sz="2800"/>
          </a:p>
        </p:txBody>
      </p:sp>
      <p:sp>
        <p:nvSpPr>
          <p:cNvPr id="11" name="Equation box"/>
          <p:cNvSpPr/>
          <p:nvPr/>
        </p:nvSpPr>
        <p:spPr>
          <a:xfrm>
            <a:off x="487680" y="1310640"/>
            <a:ext cx="4053840" cy="655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uation"/>
              <p:cNvSpPr txBox="1"/>
              <p:nvPr/>
            </p:nvSpPr>
            <p:spPr>
              <a:xfrm>
                <a:off x="457682" y="1446158"/>
                <a:ext cx="4190037" cy="38428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𝑥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,  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𝜽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82" y="1446158"/>
                <a:ext cx="4190037" cy="384284"/>
              </a:xfrm>
              <a:prstGeom prst="rect">
                <a:avLst/>
              </a:prstGeom>
              <a:blipFill>
                <a:blip r:embed="rId2"/>
                <a:stretch>
                  <a:fillRect l="-909" b="-16129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38100" y="2821181"/>
                <a:ext cx="5833115" cy="145871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arg</m:t>
                          </m:r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 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min</m:t>
                          </m:r>
                        </m:e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1B2A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1B2A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𝒚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fr-FR" dirty="0">
                  <a:solidFill>
                    <a:srgbClr val="1B2A3A"/>
                  </a:solidFill>
                  <a:latin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𝑋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1B2A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>
                                        <a:solidFill>
                                          <a:srgbClr val="1B2A3A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>
                                        <a:solidFill>
                                          <a:srgbClr val="1B2A3A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1B2A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>
                                        <a:solidFill>
                                          <a:srgbClr val="1B2A3A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>
                                        <a:solidFill>
                                          <a:srgbClr val="1B2A3A"/>
                                        </a:solidFill>
                                        <a:latin typeface="Cambria Math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" y="2821181"/>
                <a:ext cx="5833115" cy="1458719"/>
              </a:xfrm>
              <a:prstGeom prst="rect">
                <a:avLst/>
              </a:prstGeom>
              <a:blipFill>
                <a:blip r:embed="rId3"/>
                <a:stretch>
                  <a:fillRect l="-1952" t="-63478" b="-45217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rd"/>
          <p:cNvSpPr/>
          <p:nvPr/>
        </p:nvSpPr>
        <p:spPr>
          <a:xfrm>
            <a:off x="330200" y="4706620"/>
            <a:ext cx="4823460" cy="1272540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 sz="2400"/>
          </a:p>
        </p:txBody>
      </p:sp>
      <p:sp>
        <p:nvSpPr>
          <p:cNvPr id="17" name="Row 1"/>
          <p:cNvSpPr txBox="1"/>
          <p:nvPr/>
        </p:nvSpPr>
        <p:spPr>
          <a:xfrm>
            <a:off x="459740" y="4706620"/>
            <a:ext cx="4968240" cy="426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b="0" i="0" dirty="0">
                <a:solidFill>
                  <a:srgbClr val="2F5D8C"/>
                </a:solidFill>
                <a:latin typeface="Arial"/>
                <a:ea typeface="Arial"/>
                <a:cs typeface="Arial"/>
              </a:rPr>
              <a:t>1 · </a:t>
            </a:r>
            <a:r>
              <a:rPr b="1" i="0" dirty="0">
                <a:solidFill>
                  <a:srgbClr val="2F5D8C"/>
                </a:solidFill>
                <a:latin typeface="Arial"/>
                <a:ea typeface="Arial"/>
                <a:cs typeface="Arial"/>
              </a:rPr>
              <a:t>Model</a:t>
            </a:r>
            <a:r>
              <a:rPr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f̃ with parameters </a:t>
            </a:r>
            <a:r>
              <a:rPr b="1" i="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θ</a:t>
            </a:r>
            <a:r>
              <a:rPr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</a:t>
            </a:r>
            <a:r>
              <a:rPr b="0" i="0" dirty="0">
                <a:solidFill>
                  <a:srgbClr val="4A5663"/>
                </a:solidFill>
                <a:latin typeface="Arial"/>
                <a:ea typeface="Arial"/>
                <a:cs typeface="Arial"/>
              </a:rPr>
              <a:t>→ part II (MLP)</a:t>
            </a:r>
            <a:endParaRPr lang="en-US" dirty="0"/>
          </a:p>
        </p:txBody>
      </p:sp>
      <p:sp>
        <p:nvSpPr>
          <p:cNvPr id="19" name="Row 2"/>
          <p:cNvSpPr txBox="1"/>
          <p:nvPr/>
        </p:nvSpPr>
        <p:spPr>
          <a:xfrm>
            <a:off x="459740" y="5133340"/>
            <a:ext cx="4968240" cy="426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b="0" i="0" dirty="0">
                <a:solidFill>
                  <a:srgbClr val="2F5D8C"/>
                </a:solidFill>
                <a:latin typeface="Arial"/>
                <a:ea typeface="Arial"/>
                <a:cs typeface="Arial"/>
              </a:rPr>
              <a:t>2 · </a:t>
            </a:r>
            <a:r>
              <a:rPr b="1" i="0" dirty="0">
                <a:solidFill>
                  <a:srgbClr val="2F5D8C"/>
                </a:solidFill>
                <a:latin typeface="Arial"/>
                <a:ea typeface="Arial"/>
                <a:cs typeface="Arial"/>
              </a:rPr>
              <a:t>Loss</a:t>
            </a:r>
            <a:r>
              <a:rPr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measuring the residuals </a:t>
            </a:r>
            <a:r>
              <a:rPr b="0" i="0" dirty="0">
                <a:solidFill>
                  <a:srgbClr val="4A5663"/>
                </a:solidFill>
                <a:latin typeface="Arial"/>
                <a:ea typeface="Arial"/>
                <a:cs typeface="Arial"/>
              </a:rPr>
              <a:t>→ part III</a:t>
            </a:r>
            <a:endParaRPr lang="en-US" dirty="0"/>
          </a:p>
        </p:txBody>
      </p:sp>
      <p:sp>
        <p:nvSpPr>
          <p:cNvPr id="21" name="Row 3"/>
          <p:cNvSpPr txBox="1"/>
          <p:nvPr/>
        </p:nvSpPr>
        <p:spPr>
          <a:xfrm>
            <a:off x="459740" y="5560060"/>
            <a:ext cx="488442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b="0" i="0" dirty="0">
                <a:solidFill>
                  <a:srgbClr val="2F5D8C"/>
                </a:solidFill>
                <a:latin typeface="Arial"/>
                <a:ea typeface="Arial"/>
                <a:cs typeface="Arial"/>
              </a:rPr>
              <a:t>3 · </a:t>
            </a:r>
            <a:r>
              <a:rPr b="1" i="0" dirty="0">
                <a:solidFill>
                  <a:srgbClr val="2F5D8C"/>
                </a:solidFill>
                <a:latin typeface="Arial"/>
                <a:ea typeface="Arial"/>
                <a:cs typeface="Arial"/>
              </a:rPr>
              <a:t>Optimizer</a:t>
            </a:r>
            <a:r>
              <a:rPr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to </a:t>
            </a:r>
            <a:r>
              <a:rPr lang="fr-FR" b="0" i="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find</a:t>
            </a:r>
            <a:r>
              <a:rPr lang="fr-FR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optimal </a:t>
            </a:r>
            <a:r>
              <a:rPr lang="el-GR" b="1" dirty="0">
                <a:solidFill>
                  <a:srgbClr val="1B2A3A"/>
                </a:solidFill>
                <a:ea typeface="Arial"/>
                <a:cs typeface="Arial"/>
              </a:rPr>
              <a:t>θ </a:t>
            </a:r>
            <a:r>
              <a:rPr b="0" i="0" dirty="0">
                <a:solidFill>
                  <a:srgbClr val="4A5663"/>
                </a:solidFill>
                <a:latin typeface="Arial"/>
                <a:ea typeface="Arial"/>
                <a:cs typeface="Arial"/>
              </a:rPr>
              <a:t>→ part IV</a:t>
            </a:r>
            <a:endParaRPr lang="en-US" dirty="0"/>
          </a:p>
        </p:txBody>
      </p:sp>
      <p:pic>
        <p:nvPicPr>
          <p:cNvPr id="22" name="Linear fit plot" descr="s06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1257300"/>
            <a:ext cx="6134100" cy="3329940"/>
          </a:xfrm>
          <a:prstGeom prst="rect">
            <a:avLst/>
          </a:prstGeom>
        </p:spPr>
      </p:pic>
      <p:sp>
        <p:nvSpPr>
          <p:cNvPr id="23" name="Card accent"/>
          <p:cNvSpPr/>
          <p:nvPr/>
        </p:nvSpPr>
        <p:spPr>
          <a:xfrm>
            <a:off x="5516880" y="4754880"/>
            <a:ext cx="6217920" cy="1242060"/>
          </a:xfrm>
          <a:prstGeom prst="roundRect">
            <a:avLst>
              <a:gd name="adj" fmla="val 4294"/>
            </a:avLst>
          </a:prstGeom>
          <a:solidFill>
            <a:srgbClr val="9B2C3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4" name="Card"/>
          <p:cNvSpPr/>
          <p:nvPr/>
        </p:nvSpPr>
        <p:spPr>
          <a:xfrm>
            <a:off x="5554980" y="4754880"/>
            <a:ext cx="6179820" cy="124206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5" name="Example 1 result"/>
          <p:cNvSpPr txBox="1"/>
          <p:nvPr/>
        </p:nvSpPr>
        <p:spPr>
          <a:xfrm>
            <a:off x="5699760" y="4846320"/>
            <a:ext cx="627126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Example 1, 120 training points: </a:t>
            </a:r>
            <a:r>
              <a:rPr sz="2200" b="1" i="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θ</a:t>
            </a:r>
            <a:r>
              <a:rPr sz="22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 * = (0.90, 0.21</a:t>
            </a:r>
            <a:r>
              <a:rPr lang="fr-FR" sz="22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)</a:t>
            </a:r>
            <a:endParaRPr lang="en-US" sz="2200" dirty="0"/>
          </a:p>
          <a:p>
            <a:pPr algn="l">
              <a:buNone/>
            </a:pPr>
            <a:r>
              <a:rPr sz="2200" b="1" i="0" dirty="0">
                <a:solidFill>
                  <a:srgbClr val="9B2C3C"/>
                </a:solidFill>
                <a:latin typeface="Arial"/>
                <a:ea typeface="Arial"/>
                <a:cs typeface="Arial"/>
              </a:rPr>
              <a:t>Underfitting</a:t>
            </a:r>
            <a:r>
              <a:rPr sz="2200" b="0" i="0" dirty="0">
                <a:solidFill>
                  <a:srgbClr val="9B2C3C"/>
                </a:solidFill>
                <a:latin typeface="Arial"/>
                <a:ea typeface="Arial"/>
                <a:cs typeface="Arial"/>
              </a:rPr>
              <a:t>:</a:t>
            </a:r>
            <a:r>
              <a:rPr sz="22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Model </a:t>
            </a:r>
            <a:r>
              <a:rPr lang="fr-FR" sz="2200" b="0" i="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too</a:t>
            </a:r>
            <a:r>
              <a:rPr lang="fr-FR" sz="22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simple!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Perceptron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 dirty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II.</a:t>
            </a:r>
            <a:r>
              <a:rPr sz="2800" b="1" i="0" dirty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From the perceptron</a:t>
            </a:r>
            <a:r>
              <a:rPr lang="fr-FR" sz="2800" b="1" i="0" dirty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[2]</a:t>
            </a:r>
            <a:r>
              <a:rPr sz="2800" b="1" i="0" dirty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to the neural unit</a:t>
            </a:r>
            <a:endParaRPr lang="en-US" sz="2800" dirty="0"/>
          </a:p>
        </p:txBody>
      </p:sp>
      <p:pic>
        <p:nvPicPr>
          <p:cNvPr id="13" name="Perceptron diagram" descr="s07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" y="1210975"/>
            <a:ext cx="5311140" cy="2992192"/>
          </a:xfrm>
          <a:prstGeom prst="rect">
            <a:avLst/>
          </a:prstGeom>
        </p:spPr>
      </p:pic>
      <p:sp>
        <p:nvSpPr>
          <p:cNvPr id="17" name="Neural unit"/>
          <p:cNvSpPr txBox="1"/>
          <p:nvPr/>
        </p:nvSpPr>
        <p:spPr>
          <a:xfrm>
            <a:off x="7112000" y="4871720"/>
            <a:ext cx="4572000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buNone/>
            </a:pPr>
            <a:r>
              <a:rPr sz="1450" b="1" i="0" dirty="0">
                <a:solidFill>
                  <a:srgbClr val="2F5D8C"/>
                </a:solidFill>
                <a:latin typeface="Arial"/>
                <a:ea typeface="Arial"/>
                <a:cs typeface="Arial"/>
              </a:rPr>
              <a:t>Neural unit: sg → </a:t>
            </a:r>
            <a:r>
              <a:rPr sz="1450" b="1" i="0" dirty="0" err="1">
                <a:solidFill>
                  <a:srgbClr val="2F5D8C"/>
                </a:solidFill>
                <a:latin typeface="Arial"/>
                <a:ea typeface="Arial"/>
                <a:cs typeface="Arial"/>
              </a:rPr>
              <a:t>σ</a:t>
            </a:r>
            <a:r>
              <a:rPr sz="1450" b="1" i="0" dirty="0">
                <a:solidFill>
                  <a:srgbClr val="2F5D8C"/>
                </a:solidFill>
                <a:latin typeface="Arial"/>
                <a:ea typeface="Arial"/>
                <a:cs typeface="Arial"/>
              </a:rPr>
              <a:t> nonlinear, differentiable</a:t>
            </a:r>
            <a:endParaRPr lang="en-US" sz="14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210AEC-786A-6A89-3497-FD0C52848E9A}"/>
              </a:ext>
            </a:extLst>
          </p:cNvPr>
          <p:cNvGrpSpPr/>
          <p:nvPr/>
        </p:nvGrpSpPr>
        <p:grpSpPr>
          <a:xfrm>
            <a:off x="2121874" y="4038066"/>
            <a:ext cx="5206026" cy="1760753"/>
            <a:chOff x="8916374" y="5494020"/>
            <a:chExt cx="2032592" cy="670560"/>
          </a:xfrm>
        </p:grpSpPr>
        <p:sp>
          <p:nvSpPr>
            <p:cNvPr id="18" name="Equation box"/>
            <p:cNvSpPr/>
            <p:nvPr/>
          </p:nvSpPr>
          <p:spPr>
            <a:xfrm>
              <a:off x="8968740" y="5494020"/>
              <a:ext cx="1927860" cy="6705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9B2C3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Equation"/>
                <p:cNvSpPr txBox="1"/>
                <p:nvPr/>
              </p:nvSpPr>
              <p:spPr>
                <a:xfrm>
                  <a:off x="8916374" y="5610113"/>
                  <a:ext cx="2032592" cy="4383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3600">
                            <a:solidFill>
                              <a:srgbClr val="1B2A3A"/>
                            </a:solidFill>
                            <a:latin typeface="Cambria Math"/>
                          </a:rPr>
                          <m:t>𝑦</m:t>
                        </m:r>
                        <m:r>
                          <a:rPr lang="en-US" sz="3600">
                            <a:solidFill>
                              <a:srgbClr val="1B2A3A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3600">
                            <a:solidFill>
                              <a:srgbClr val="1B2A3A"/>
                            </a:solidFill>
                            <a:latin typeface="Cambria Math"/>
                          </a:rPr>
                          <m:t>𝜎</m:t>
                        </m:r>
                        <m:d>
                          <m:dPr>
                            <m:ctrlPr>
                              <a:rPr lang="en-US" sz="3600" i="1">
                                <a:solidFill>
                                  <a:srgbClr val="1B2A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600" i="1">
                                    <a:solidFill>
                                      <a:srgbClr val="1B2A3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36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⊤</m:t>
                                </m:r>
                              </m:sup>
                            </m:sSup>
                            <m:r>
                              <a:rPr lang="en-US" sz="3600">
                                <a:solidFill>
                                  <a:srgbClr val="1B2A3A"/>
                                </a:solidFill>
                                <a:latin typeface="Cambria Math"/>
                              </a:rPr>
                              <m:t>𝒙</m:t>
                            </m:r>
                            <m:r>
                              <a:rPr lang="en-US" sz="3600">
                                <a:solidFill>
                                  <a:srgbClr val="1B2A3A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sz="3600">
                                <a:solidFill>
                                  <a:srgbClr val="1B2A3A"/>
                                </a:solidFill>
                                <a:latin typeface="Cambria Math"/>
                              </a:rPr>
                              <m:t>𝑏</m:t>
                            </m:r>
                          </m:e>
                        </m:d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1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374" y="5610113"/>
                  <a:ext cx="2032592" cy="43837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Reference"/>
          <p:cNvSpPr txBox="1"/>
          <p:nvPr/>
        </p:nvSpPr>
        <p:spPr>
          <a:xfrm>
            <a:off x="457200" y="6248400"/>
            <a:ext cx="1127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5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[2] F. Rosenblatt, The perceptron: a probabilistic model for information storage and organization in the brain, Psychological Review, 1958.</a:t>
            </a:r>
            <a:endParaRPr lang="en-US" sz="12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quation">
                <a:extLst>
                  <a:ext uri="{FF2B5EF4-FFF2-40B4-BE49-F238E27FC236}">
                    <a16:creationId xmlns:a16="http://schemas.microsoft.com/office/drawing/2014/main" id="{74E3F42C-F372-51A8-01F1-F893293C6515}"/>
                  </a:ext>
                </a:extLst>
              </p:cNvPr>
              <p:cNvSpPr txBox="1"/>
              <p:nvPr/>
            </p:nvSpPr>
            <p:spPr>
              <a:xfrm>
                <a:off x="6502402" y="1248811"/>
                <a:ext cx="5918200" cy="189370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1B2A3A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800" smtClean="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𝒘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, </m:t>
                      </m:r>
                    </m:oMath>
                  </m:oMathPara>
                </a14:m>
                <a:endParaRPr lang="fr-FR" sz="2800" dirty="0">
                  <a:solidFill>
                    <a:srgbClr val="1B2A3A"/>
                  </a:solidFill>
                  <a:latin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sg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8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8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Equation">
                <a:extLst>
                  <a:ext uri="{FF2B5EF4-FFF2-40B4-BE49-F238E27FC236}">
                    <a16:creationId xmlns:a16="http://schemas.microsoft.com/office/drawing/2014/main" id="{74E3F42C-F372-51A8-01F1-F893293C6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2" y="1248811"/>
                <a:ext cx="5918200" cy="1893702"/>
              </a:xfrm>
              <a:prstGeom prst="rect">
                <a:avLst/>
              </a:prstGeom>
              <a:blipFill>
                <a:blip r:embed="rId4"/>
                <a:stretch>
                  <a:fillRect l="-2141" t="-81333" b="-173333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One layer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800" b="1" i="0" dirty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II.</a:t>
            </a:r>
            <a:r>
              <a:rPr sz="2800" b="1" i="0" dirty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One layer</a:t>
            </a:r>
            <a:endParaRPr lang="en-US" sz="2800" dirty="0"/>
          </a:p>
        </p:txBody>
      </p:sp>
      <p:pic>
        <p:nvPicPr>
          <p:cNvPr id="11" name="One layer diagram" descr="s08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1508760"/>
            <a:ext cx="3299460" cy="4114800"/>
          </a:xfrm>
          <a:prstGeom prst="rect">
            <a:avLst/>
          </a:prstGeom>
        </p:spPr>
      </p:pic>
      <p:sp>
        <p:nvSpPr>
          <p:cNvPr id="13" name="Parameters"/>
          <p:cNvSpPr txBox="1"/>
          <p:nvPr/>
        </p:nvSpPr>
        <p:spPr>
          <a:xfrm>
            <a:off x="4927602" y="4713867"/>
            <a:ext cx="5359398" cy="912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1 layer:</a:t>
            </a:r>
            <a:r>
              <a:rPr sz="28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p(n + 1) parameters</a:t>
            </a:r>
            <a:endParaRPr lang="en-US" sz="2800" dirty="0"/>
          </a:p>
        </p:txBody>
      </p:sp>
      <p:sp>
        <p:nvSpPr>
          <p:cNvPr id="17" name="Equation box"/>
          <p:cNvSpPr/>
          <p:nvPr/>
        </p:nvSpPr>
        <p:spPr>
          <a:xfrm>
            <a:off x="4183380" y="2903220"/>
            <a:ext cx="6393180" cy="12877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Equation"/>
              <p:cNvSpPr txBox="1"/>
              <p:nvPr/>
            </p:nvSpPr>
            <p:spPr>
              <a:xfrm>
                <a:off x="4097970" y="2976507"/>
                <a:ext cx="6563999" cy="114120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1B2A3A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240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>
                          <a:solidFill>
                            <a:srgbClr val="1B2A3A"/>
                          </a:solidFill>
                          <a:latin typeface="Cambria Math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𝑊</m:t>
                          </m:r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𝒃</m:t>
                          </m:r>
                        </m:e>
                      </m:d>
                      <m:r>
                        <a:rPr lang="en-US" sz="2400">
                          <a:solidFill>
                            <a:srgbClr val="1B2A3A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>
                          <a:solidFill>
                            <a:srgbClr val="1B2A3A"/>
                          </a:solidFill>
                          <a:latin typeface="Cambria Math"/>
                        </a:rPr>
                        <m:t>,  </m:t>
                      </m:r>
                      <m:r>
                        <a:rPr lang="en-US" sz="2400">
                          <a:solidFill>
                            <a:srgbClr val="1B2A3A"/>
                          </a:solidFill>
                          <a:latin typeface="Cambria Math"/>
                        </a:rPr>
                        <m:t>𝑊</m:t>
                      </m:r>
                      <m:r>
                        <a:rPr lang="en-US" sz="2400">
                          <a:solidFill>
                            <a:srgbClr val="1B2A3A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400">
                          <a:solidFill>
                            <a:srgbClr val="1B2A3A"/>
                          </a:solidFill>
                          <a:latin typeface="Cambria Math"/>
                        </a:rPr>
                        <m:t>, </m:t>
                      </m:r>
                      <m:r>
                        <a:rPr lang="en-US" sz="2400">
                          <a:solidFill>
                            <a:srgbClr val="1B2A3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2400">
                          <a:solidFill>
                            <a:srgbClr val="1B2A3A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 sz="24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970" y="2976507"/>
                <a:ext cx="6563999" cy="11412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Equation box">
            <a:extLst>
              <a:ext uri="{FF2B5EF4-FFF2-40B4-BE49-F238E27FC236}">
                <a16:creationId xmlns:a16="http://schemas.microsoft.com/office/drawing/2014/main" id="{9DDB349E-E829-1391-AD63-74053C7DEEFC}"/>
              </a:ext>
            </a:extLst>
          </p:cNvPr>
          <p:cNvSpPr/>
          <p:nvPr/>
        </p:nvSpPr>
        <p:spPr>
          <a:xfrm>
            <a:off x="4208780" y="1303020"/>
            <a:ext cx="6393180" cy="12877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quation">
                <a:extLst>
                  <a:ext uri="{FF2B5EF4-FFF2-40B4-BE49-F238E27FC236}">
                    <a16:creationId xmlns:a16="http://schemas.microsoft.com/office/drawing/2014/main" id="{E270DE54-AA28-8FFF-1569-E22A5EB4936A}"/>
                  </a:ext>
                </a:extLst>
              </p:cNvPr>
              <p:cNvSpPr txBox="1"/>
              <p:nvPr/>
            </p:nvSpPr>
            <p:spPr>
              <a:xfrm>
                <a:off x="4123370" y="1376307"/>
                <a:ext cx="6563999" cy="114120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:r>
                  <a:rPr lang="fr-FR" sz="2400" dirty="0">
                    <a:solidFill>
                      <a:srgbClr val="1B2A3A"/>
                    </a:solidFill>
                  </a:rPr>
                  <a:t>Linear(</a:t>
                </a:r>
                <a:r>
                  <a:rPr lang="fr-FR" sz="2400" dirty="0" err="1">
                    <a:solidFill>
                      <a:srgbClr val="1B2A3A"/>
                    </a:solidFill>
                  </a:rPr>
                  <a:t>n,p</a:t>
                </a:r>
                <a:r>
                  <a:rPr lang="fr-FR" sz="2400" dirty="0">
                    <a:solidFill>
                      <a:srgbClr val="1B2A3A"/>
                    </a:solidFill>
                  </a:rPr>
                  <a:t>) -&gt; Activation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1B2A3A"/>
                        </a:solidFill>
                        <a:latin typeface="Cambria Math"/>
                      </a:rPr>
                      <m:t>𝜎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Equation">
                <a:extLst>
                  <a:ext uri="{FF2B5EF4-FFF2-40B4-BE49-F238E27FC236}">
                    <a16:creationId xmlns:a16="http://schemas.microsoft.com/office/drawing/2014/main" id="{E270DE54-AA28-8FFF-1569-E22A5EB49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70" y="1376307"/>
                <a:ext cx="6563999" cy="11412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Multilayer perceptron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II.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The multilayer perceptron (MLP): a composition of layers</a:t>
            </a:r>
            <a:endParaRPr lang="en-US" sz="2800"/>
          </a:p>
        </p:txBody>
      </p:sp>
      <p:pic>
        <p:nvPicPr>
          <p:cNvPr id="11" name="MLP diagram" descr="s10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" y="1121289"/>
            <a:ext cx="6884485" cy="3674151"/>
          </a:xfrm>
          <a:prstGeom prst="rect">
            <a:avLst/>
          </a:prstGeom>
        </p:spPr>
      </p:pic>
      <p:sp>
        <p:nvSpPr>
          <p:cNvPr id="14" name="Row 1"/>
          <p:cNvSpPr txBox="1"/>
          <p:nvPr/>
        </p:nvSpPr>
        <p:spPr>
          <a:xfrm>
            <a:off x="430529" y="4963886"/>
            <a:ext cx="5810613" cy="1088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FR" i="1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L </a:t>
            </a:r>
            <a:r>
              <a:rPr lang="en-FR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layers: </a:t>
            </a:r>
            <a:r>
              <a:rPr lang="en-GB" b="1" dirty="0">
                <a:solidFill>
                  <a:srgbClr val="1B2A3A"/>
                </a:solidFill>
                <a:ea typeface="Arial"/>
                <a:cs typeface="Arial"/>
              </a:rPr>
              <a:t>Depth</a:t>
            </a:r>
            <a:r>
              <a:rPr lang="en-GB" dirty="0">
                <a:solidFill>
                  <a:srgbClr val="1B2A3A"/>
                </a:solidFill>
                <a:ea typeface="Arial"/>
                <a:cs typeface="Arial"/>
              </a:rPr>
              <a:t> L</a:t>
            </a:r>
            <a:r>
              <a:rPr lang="en-GB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-&gt; </a:t>
            </a:r>
            <a:r>
              <a:rPr lang="en-GB" dirty="0">
                <a:solidFill>
                  <a:srgbClr val="1B2A3A"/>
                </a:solidFill>
                <a:ea typeface="Arial"/>
                <a:cs typeface="Arial"/>
              </a:rPr>
              <a:t>layers 1 to L − 1 are </a:t>
            </a:r>
            <a:r>
              <a:rPr lang="en-GB" i="1" dirty="0">
                <a:solidFill>
                  <a:srgbClr val="1B2A3A"/>
                </a:solidFill>
                <a:ea typeface="Arial"/>
                <a:cs typeface="Arial"/>
              </a:rPr>
              <a:t>hidden</a:t>
            </a:r>
          </a:p>
          <a:p>
            <a:r>
              <a:rPr lang="en-GB" dirty="0">
                <a:solidFill>
                  <a:srgbClr val="1B2A3A"/>
                </a:solidFill>
                <a:ea typeface="Arial"/>
                <a:cs typeface="Arial"/>
              </a:rPr>
              <a:t>widths p₁, …, p</a:t>
            </a:r>
            <a:r>
              <a:rPr lang="en-GB" baseline="-25000" dirty="0">
                <a:solidFill>
                  <a:srgbClr val="1B2A3A"/>
                </a:solidFill>
                <a:ea typeface="Arial"/>
                <a:cs typeface="Arial"/>
              </a:rPr>
              <a:t>L−1</a:t>
            </a:r>
            <a:r>
              <a:rPr lang="en-GB" dirty="0">
                <a:solidFill>
                  <a:srgbClr val="1B2A3A"/>
                </a:solidFill>
                <a:ea typeface="Arial"/>
                <a:cs typeface="Arial"/>
              </a:rPr>
              <a:t>: </a:t>
            </a:r>
            <a:r>
              <a:rPr lang="en-GB" b="1" dirty="0">
                <a:solidFill>
                  <a:srgbClr val="1B2A3A"/>
                </a:solidFill>
                <a:ea typeface="Arial"/>
                <a:cs typeface="Arial"/>
              </a:rPr>
              <a:t>number of neurons</a:t>
            </a:r>
            <a:endParaRPr lang="en-GB" i="1" dirty="0">
              <a:solidFill>
                <a:srgbClr val="1B2A3A"/>
              </a:solidFill>
              <a:ea typeface="Arial"/>
              <a:cs typeface="Arial"/>
            </a:endParaRPr>
          </a:p>
          <a:p>
            <a:endParaRPr lang="en-GB" i="1" dirty="0">
              <a:solidFill>
                <a:srgbClr val="1B2A3A"/>
              </a:solidFill>
              <a:ea typeface="Arial"/>
              <a:cs typeface="Arial"/>
            </a:endParaRPr>
          </a:p>
          <a:p>
            <a:endParaRPr lang="en-US" dirty="0"/>
          </a:p>
        </p:txBody>
      </p:sp>
      <p:sp>
        <p:nvSpPr>
          <p:cNvPr id="16" name="Row 2"/>
          <p:cNvSpPr txBox="1"/>
          <p:nvPr/>
        </p:nvSpPr>
        <p:spPr>
          <a:xfrm>
            <a:off x="6050644" y="5508171"/>
            <a:ext cx="4899660" cy="670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000" b="1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Hyperparameters</a:t>
            </a:r>
            <a:r>
              <a:rPr sz="20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(chosen, not learned): L, the widths, the activations.</a:t>
            </a:r>
            <a:endParaRPr lang="en-US" sz="2000" dirty="0"/>
          </a:p>
        </p:txBody>
      </p:sp>
      <p:sp>
        <p:nvSpPr>
          <p:cNvPr id="18" name="Row 3"/>
          <p:cNvSpPr txBox="1"/>
          <p:nvPr/>
        </p:nvSpPr>
        <p:spPr>
          <a:xfrm>
            <a:off x="6050643" y="4881698"/>
            <a:ext cx="5996213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000" b="1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Last layer</a:t>
            </a:r>
            <a:r>
              <a:rPr sz="20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for regression: </a:t>
            </a:r>
            <a:r>
              <a:rPr sz="2000" b="0" i="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σ</a:t>
            </a:r>
            <a:r>
              <a:rPr sz="2000" b="0" i="0" baseline="-2500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L</a:t>
            </a:r>
            <a:r>
              <a:rPr sz="20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= id.</a:t>
            </a:r>
            <a:endParaRPr lang="en-US" sz="2000" dirty="0"/>
          </a:p>
        </p:txBody>
      </p:sp>
      <p:sp>
        <p:nvSpPr>
          <p:cNvPr id="20" name="Row 4"/>
          <p:cNvSpPr txBox="1"/>
          <p:nvPr/>
        </p:nvSpPr>
        <p:spPr>
          <a:xfrm>
            <a:off x="7785100" y="895350"/>
            <a:ext cx="4899660" cy="6629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00" b="1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Names:</a:t>
            </a:r>
            <a:r>
              <a:rPr sz="15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MLP</a:t>
            </a:r>
            <a:r>
              <a:rPr lang="fr-FR" sz="15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, FCN (</a:t>
            </a:r>
            <a:r>
              <a:rPr lang="fr-FR" sz="1500" b="0" i="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Fully</a:t>
            </a:r>
            <a:r>
              <a:rPr lang="fr-FR" sz="15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500" b="0" i="0" dirty="0" err="1">
                <a:solidFill>
                  <a:srgbClr val="1B2A3A"/>
                </a:solidFill>
                <a:latin typeface="Arial"/>
                <a:ea typeface="Arial"/>
                <a:cs typeface="Arial"/>
              </a:rPr>
              <a:t>Connected</a:t>
            </a:r>
            <a:r>
              <a:rPr lang="fr-FR" sz="1500" b="0" i="0" dirty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Network)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quation"/>
              <p:cNvSpPr txBox="1"/>
              <p:nvPr/>
            </p:nvSpPr>
            <p:spPr>
              <a:xfrm>
                <a:off x="6731001" y="1588770"/>
                <a:ext cx="5474786" cy="75958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𝒛</m:t>
                          </m:r>
                        </m:e>
                      </m:d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ℓ</m:t>
                              </m:r>
                            </m:sub>
                          </m:s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 </m:t>
                          </m:r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𝒛</m:t>
                          </m:r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ℓ</m:t>
                              </m:r>
                            </m:sub>
                          </m:sSub>
                        </m:e>
                      </m:d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,</m:t>
                      </m:r>
                      <m:r>
                        <m:rPr>
                          <m:lit/>
                        </m:rPr>
                        <a:rPr lang="fr-FR" sz="2000" b="0" i="1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ℓ</m:t>
                          </m:r>
                        </m:sub>
                      </m:sSub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ℓ</m:t>
                              </m:r>
                            </m:sub>
                          </m:s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ℓ−1</m:t>
                              </m:r>
                            </m:sub>
                          </m:sSub>
                        </m:sup>
                      </m:sSup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,</m:t>
                      </m:r>
                      <m:r>
                        <m:rPr>
                          <m:lit/>
                        </m:rPr>
                        <a:rPr lang="fr-FR" sz="2000" b="0" i="1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𝒃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ℓ</m:t>
                          </m:r>
                        </m:sub>
                      </m:sSub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ℓ</m:t>
                              </m:r>
                            </m:sub>
                          </m:sSub>
                        </m:sup>
                      </m:sSup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 </m:t>
                      </m:r>
                    </m:oMath>
                  </m:oMathPara>
                </a14:m>
                <a:endParaRPr lang="fr-FR" sz="2000" dirty="0">
                  <a:solidFill>
                    <a:srgbClr val="1B2A3A"/>
                  </a:solidFill>
                  <a:latin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fr-FR" sz="2000" b="0" i="0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, 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en-US" sz="1518" dirty="0"/>
              </a:p>
            </p:txBody>
          </p:sp>
        </mc:Choice>
        <mc:Fallback xmlns="">
          <p:sp>
            <p:nvSpPr>
              <p:cNvPr id="2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001" y="1588770"/>
                <a:ext cx="5474786" cy="759581"/>
              </a:xfrm>
              <a:prstGeom prst="rect">
                <a:avLst/>
              </a:prstGeom>
              <a:blipFill>
                <a:blip r:embed="rId3"/>
                <a:stretch>
                  <a:fillRect l="-2315" r="-3009" b="-6667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quation"/>
              <p:cNvSpPr txBox="1"/>
              <p:nvPr/>
            </p:nvSpPr>
            <p:spPr>
              <a:xfrm>
                <a:off x="6615615" y="2578703"/>
                <a:ext cx="4527365" cy="67056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smtClean="0">
                          <a:solidFill>
                            <a:srgbClr val="1B2A3A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2000" smtClean="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0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∘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𝐿</m:t>
                              </m:r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∘⋯∘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 </m:t>
                      </m:r>
                    </m:oMath>
                  </m:oMathPara>
                </a14:m>
                <a:endParaRPr lang="fr-FR" sz="2000" dirty="0">
                  <a:solidFill>
                    <a:srgbClr val="1B2A3A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 </m:t>
                      </m:r>
                      <m:r>
                        <a:rPr lang="fr-FR" sz="2000" b="0" i="1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𝜽</m:t>
                      </m:r>
                      <m:r>
                        <a:rPr lang="en-US" sz="200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1B2A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ℓ</m:t>
                                  </m:r>
                                </m:sub>
                              </m:sSub>
                              <m:r>
                                <a:rPr lang="en-US" sz="20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, 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1B2A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000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ℓ=1</m:t>
                          </m:r>
                        </m:sub>
                        <m:sup>
                          <m:r>
                            <a:rPr lang="en-US" sz="20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15" y="2578703"/>
                <a:ext cx="4527365" cy="670560"/>
              </a:xfrm>
              <a:prstGeom prst="rect">
                <a:avLst/>
              </a:prstGeom>
              <a:blipFill>
                <a:blip r:embed="rId4"/>
                <a:stretch>
                  <a:fillRect t="-1818" b="-12727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quation">
                <a:extLst>
                  <a:ext uri="{FF2B5EF4-FFF2-40B4-BE49-F238E27FC236}">
                    <a16:creationId xmlns:a16="http://schemas.microsoft.com/office/drawing/2014/main" id="{625F2F77-7FF0-096D-F573-669F5BA6D02E}"/>
                  </a:ext>
                </a:extLst>
              </p:cNvPr>
              <p:cNvSpPr txBox="1"/>
              <p:nvPr/>
            </p:nvSpPr>
            <p:spPr>
              <a:xfrm>
                <a:off x="7083709" y="3568473"/>
                <a:ext cx="3049066" cy="122219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2024" b="0" i="0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024" b="0" i="0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fr-FR" sz="2024" b="0" i="0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024" b="0" i="0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fr-FR" sz="2024" b="0" i="0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024" b="0" i="0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parameters</m:t>
                      </m:r>
                      <m:r>
                        <a:rPr lang="fr-FR" sz="2024" b="0" i="0" smtClean="0">
                          <a:solidFill>
                            <a:srgbClr val="1B2A3A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</m:oMath>
                  </m:oMathPara>
                </a14:m>
                <a:endParaRPr lang="fr-FR" sz="2024" b="0" i="0" dirty="0">
                  <a:solidFill>
                    <a:srgbClr val="1B2A3A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24">
                          <a:solidFill>
                            <a:srgbClr val="1B2A3A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sz="2024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2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2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ℓ=1</m:t>
                          </m:r>
                        </m:sub>
                        <m:sup>
                          <m:r>
                            <a:rPr lang="en-US" sz="202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en-US" sz="202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2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2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ℓ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202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2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2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2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ℓ−1</m:t>
                              </m:r>
                            </m:sub>
                          </m:sSub>
                          <m:r>
                            <a:rPr lang="en-US" sz="202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024" dirty="0"/>
              </a:p>
            </p:txBody>
          </p:sp>
        </mc:Choice>
        <mc:Fallback xmlns="">
          <p:sp>
            <p:nvSpPr>
              <p:cNvPr id="24" name="Equation">
                <a:extLst>
                  <a:ext uri="{FF2B5EF4-FFF2-40B4-BE49-F238E27FC236}">
                    <a16:creationId xmlns:a16="http://schemas.microsoft.com/office/drawing/2014/main" id="{625F2F77-7FF0-096D-F573-669F5BA6D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709" y="3568473"/>
                <a:ext cx="3049066" cy="1222190"/>
              </a:xfrm>
              <a:prstGeom prst="rect">
                <a:avLst/>
              </a:prstGeom>
              <a:blipFill>
                <a:blip r:embed="rId5"/>
                <a:stretch>
                  <a:fillRect l="-4132" t="-51515" b="-11818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Activation functions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II.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Activation functions σ</a:t>
            </a:r>
            <a:endParaRPr lang="en-US" sz="2800"/>
          </a:p>
        </p:txBody>
      </p:sp>
      <p:pic>
        <p:nvPicPr>
          <p:cNvPr id="11" name="Activation functions plots" descr="s09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2" y="1356359"/>
            <a:ext cx="6790988" cy="3651069"/>
          </a:xfrm>
          <a:prstGeom prst="rect">
            <a:avLst/>
          </a:prstGeom>
        </p:spPr>
      </p:pic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283588"/>
              </p:ext>
            </p:extLst>
          </p:nvPr>
        </p:nvGraphicFramePr>
        <p:xfrm>
          <a:off x="7292340" y="1714500"/>
          <a:ext cx="4442460" cy="23850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σ</a:t>
                      </a: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B2A3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σ(z)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B2A3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range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B2A3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sz="1600" b="1" i="0" dirty="0" err="1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ReLU</a:t>
                      </a:r>
                      <a:endParaRPr sz="1600" b="1" i="0" dirty="0">
                        <a:solidFill>
                          <a:srgbClr val="1B2A3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B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max(0, z)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B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[0, +∞[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1B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sigmoid</a:t>
                      </a: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1 / (1 + e⁻ᶻ)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]0, 1[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tanh</a:t>
                      </a: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(eᶻ − e⁻ᶻ) / (eᶻ + e⁻ᶻ)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]−1, 1[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Leaky ReLU</a:t>
                      </a: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max(αz, z), α ≈ 10⁻²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ℝ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ELU</a:t>
                      </a: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z, or eᶻ − 1 if z &lt; 0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]−1, +∞[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Mish</a:t>
                      </a:r>
                    </a:p>
                  </a:txBody>
                  <a:tcPr marL="9906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z tanh(ln(1 + eᶻ))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i="0" dirty="0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</a:rPr>
                        <a:t>[≈ −0.31, +∞[</a:t>
                      </a:r>
                    </a:p>
                  </a:txBody>
                  <a:tcPr marL="30480" marR="30480" marT="15240" marB="152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1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1E0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fs"/>
          <p:cNvSpPr txBox="1"/>
          <p:nvPr/>
        </p:nvSpPr>
        <p:spPr>
          <a:xfrm>
            <a:off x="7292340" y="4152900"/>
            <a:ext cx="444246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0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Leaky ReLU </a:t>
            </a:r>
            <a:r>
              <a:rPr sz="140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[3]</a:t>
            </a:r>
            <a:r>
              <a:rPr sz="140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, ELU </a:t>
            </a:r>
            <a:r>
              <a:rPr sz="140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[4]</a:t>
            </a:r>
            <a:r>
              <a:rPr sz="140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, Mish </a:t>
            </a:r>
            <a:r>
              <a:rPr sz="140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[5]</a:t>
            </a:r>
            <a:endParaRPr lang="en-US" sz="1400"/>
          </a:p>
        </p:txBody>
      </p:sp>
      <p:sp>
        <p:nvSpPr>
          <p:cNvPr id="19" name="Reference"/>
          <p:cNvSpPr txBox="1"/>
          <p:nvPr/>
        </p:nvSpPr>
        <p:spPr>
          <a:xfrm>
            <a:off x="457200" y="6248400"/>
            <a:ext cx="1127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5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[3] Maas et al., ICML Workshop 2013. [4] Clevert et al., ICLR 2016. [5] Misra, BMVC 2020.</a:t>
            </a:r>
            <a:endParaRPr lang="en-US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Universal approximation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II.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Why MLPs? The universal approximation theorem </a:t>
            </a:r>
            <a:r>
              <a:rPr sz="2800" b="1" i="0">
                <a:solidFill>
                  <a:srgbClr val="2F5D8C"/>
                </a:solidFill>
                <a:latin typeface="Times New Roman"/>
                <a:ea typeface="Times New Roman"/>
                <a:cs typeface="Times New Roman"/>
              </a:rPr>
              <a:t>[6–8]</a:t>
            </a:r>
            <a:endParaRPr lang="en-US" sz="2800"/>
          </a:p>
        </p:txBody>
      </p:sp>
      <p:sp>
        <p:nvSpPr>
          <p:cNvPr id="11" name="Theorem box"/>
          <p:cNvSpPr/>
          <p:nvPr/>
        </p:nvSpPr>
        <p:spPr>
          <a:xfrm>
            <a:off x="525780" y="1280160"/>
            <a:ext cx="10340340" cy="145542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heorem"/>
          <p:cNvSpPr txBox="1"/>
          <p:nvPr/>
        </p:nvSpPr>
        <p:spPr>
          <a:xfrm>
            <a:off x="723900" y="1417320"/>
            <a:ext cx="99822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Theorem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(universal approximation). Let </a:t>
            </a:r>
            <a:r>
              <a:rPr sz="1600" b="0" i="1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: ℝ → ℝ be continuous and </a:t>
            </a:r>
            <a:r>
              <a:rPr sz="1600" b="0" i="1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not a polynomial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, and </a:t>
            </a:r>
            <a:r>
              <a:rPr sz="1600" b="0" i="1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⊂ ℝⁿ compact. For every continuous </a:t>
            </a:r>
            <a:r>
              <a:rPr sz="1600" b="0" i="1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: </a:t>
            </a:r>
            <a:r>
              <a:rPr sz="1600" b="0" i="1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→ ℝᵐ and every </a:t>
            </a:r>
            <a:r>
              <a:rPr sz="1600" b="0" i="1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ε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&gt; 0, there exist a width </a:t>
            </a:r>
            <a:r>
              <a:rPr sz="1600" b="0" i="1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1600" b="0" i="1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∈ ℝ</a:t>
            </a:r>
            <a:r>
              <a:rPr sz="1600" b="0" i="0" baseline="3000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p×n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6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∈ ℝ</a:t>
            </a:r>
            <a:r>
              <a:rPr sz="1600" b="0" i="0" baseline="3000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600" b="0" i="1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∈ ℝ</a:t>
            </a:r>
            <a:r>
              <a:rPr sz="1600" b="0" i="0" baseline="3000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m×p</a:t>
            </a:r>
            <a:r>
              <a:rPr sz="1600" b="0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such that</a:t>
            </a:r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3839406" y="2101808"/>
                <a:ext cx="3690228" cy="56650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sup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𝐾</m:t>
                          </m:r>
                        </m:sub>
                      </m:sSub>
                      <m:d>
                        <m:dPr>
                          <m:begChr m:val="∥"/>
                          <m:endChr m:val="∥"/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𝑉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 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𝑊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𝒃</m:t>
                              </m:r>
                            </m:e>
                          </m:d>
                        </m:e>
                      </m:d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𝜀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sz="1564"/>
              </a:p>
            </p:txBody>
          </p:sp>
        </mc:Choice>
        <mc:Fallback xmlns="">
          <p:sp>
            <p:nvSpPr>
              <p:cNvPr id="13" name="Equation"/>
              <p:cNvSpPr txBox="1"/>
              <p:nvPr/>
            </p:nvSpPr>
            <p:spPr>
              <a:xfrm>
                <a:off x="4153152" y="2184759"/>
                <a:ext cx="3062736" cy="400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pic>
        <p:nvPicPr>
          <p:cNvPr id="14" name="Approximation plot" descr="s14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33700"/>
            <a:ext cx="5501640" cy="3086100"/>
          </a:xfrm>
          <a:prstGeom prst="rect">
            <a:avLst/>
          </a:prstGeom>
        </p:spPr>
      </p:pic>
      <p:sp>
        <p:nvSpPr>
          <p:cNvPr id="15" name="Card"/>
          <p:cNvSpPr/>
          <p:nvPr/>
        </p:nvSpPr>
        <p:spPr>
          <a:xfrm>
            <a:off x="6172200" y="3116580"/>
            <a:ext cx="5562600" cy="27660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Row 1"/>
          <p:cNvSpPr txBox="1"/>
          <p:nvPr/>
        </p:nvSpPr>
        <p:spPr>
          <a:xfrm>
            <a:off x="6301740" y="3116580"/>
            <a:ext cx="5303520" cy="6934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5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Illustration:</a:t>
            </a:r>
            <a:r>
              <a:rPr sz="15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one hidden layer of p tanh neurons fitted to f. With p = 10 the network matches f.</a:t>
            </a:r>
            <a:endParaRPr lang="en-US" sz="1550"/>
          </a:p>
        </p:txBody>
      </p:sp>
      <p:cxnSp>
        <p:nvCxnSpPr>
          <p:cNvPr id="17" name="Separator"/>
          <p:cNvCxnSpPr/>
          <p:nvPr/>
        </p:nvCxnSpPr>
        <p:spPr>
          <a:xfrm>
            <a:off x="6179820" y="3810000"/>
            <a:ext cx="5547360" cy="0"/>
          </a:xfrm>
          <a:prstGeom prst="line">
            <a:avLst/>
          </a:prstGeom>
          <a:ln w="9525">
            <a:solidFill>
              <a:srgbClr val="E1E0DB"/>
            </a:solidFill>
          </a:ln>
        </p:spPr>
      </p:cxnSp>
      <p:sp>
        <p:nvSpPr>
          <p:cNvPr id="18" name="Row 2"/>
          <p:cNvSpPr txBox="1"/>
          <p:nvPr/>
        </p:nvSpPr>
        <p:spPr>
          <a:xfrm>
            <a:off x="6301740" y="3810000"/>
            <a:ext cx="5303520" cy="449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5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Nonlinearity is essential:</a:t>
            </a:r>
            <a:r>
              <a:rPr sz="15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σ = id is a polynomial, excluded.</a:t>
            </a:r>
            <a:endParaRPr lang="en-US" sz="1550"/>
          </a:p>
        </p:txBody>
      </p:sp>
      <p:cxnSp>
        <p:nvCxnSpPr>
          <p:cNvPr id="19" name="Separator"/>
          <p:cNvCxnSpPr/>
          <p:nvPr/>
        </p:nvCxnSpPr>
        <p:spPr>
          <a:xfrm>
            <a:off x="6179820" y="4259580"/>
            <a:ext cx="5547360" cy="0"/>
          </a:xfrm>
          <a:prstGeom prst="line">
            <a:avLst/>
          </a:prstGeom>
          <a:ln w="9525">
            <a:solidFill>
              <a:srgbClr val="E1E0DB"/>
            </a:solidFill>
          </a:ln>
        </p:spPr>
      </p:cxnSp>
      <p:sp>
        <p:nvSpPr>
          <p:cNvPr id="20" name="Row 3"/>
          <p:cNvSpPr txBox="1"/>
          <p:nvPr/>
        </p:nvSpPr>
        <p:spPr>
          <a:xfrm>
            <a:off x="6301740" y="4259580"/>
            <a:ext cx="53035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50" b="0" i="0">
                <a:solidFill>
                  <a:srgbClr val="9B2C3C"/>
                </a:solidFill>
                <a:latin typeface="Arial"/>
                <a:ea typeface="Arial"/>
                <a:cs typeface="Arial"/>
              </a:rPr>
              <a:t>Existence only:</a:t>
            </a:r>
            <a:r>
              <a:rPr sz="15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says nothing about the width p needed, how to find </a:t>
            </a:r>
            <a:r>
              <a:rPr sz="15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θ</a:t>
            </a:r>
            <a:r>
              <a:rPr sz="15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, or generalization.</a:t>
            </a:r>
            <a:endParaRPr lang="en-US" sz="1550"/>
          </a:p>
        </p:txBody>
      </p:sp>
      <p:cxnSp>
        <p:nvCxnSpPr>
          <p:cNvPr id="21" name="Separator"/>
          <p:cNvCxnSpPr/>
          <p:nvPr/>
        </p:nvCxnSpPr>
        <p:spPr>
          <a:xfrm>
            <a:off x="6179820" y="4945380"/>
            <a:ext cx="5547360" cy="0"/>
          </a:xfrm>
          <a:prstGeom prst="line">
            <a:avLst/>
          </a:prstGeom>
          <a:ln w="9525">
            <a:solidFill>
              <a:srgbClr val="E1E0DB"/>
            </a:solidFill>
          </a:ln>
        </p:spPr>
      </p:cxnSp>
      <p:sp>
        <p:nvSpPr>
          <p:cNvPr id="22" name="Row 4"/>
          <p:cNvSpPr txBox="1"/>
          <p:nvPr/>
        </p:nvSpPr>
        <p:spPr>
          <a:xfrm>
            <a:off x="6301740" y="4945380"/>
            <a:ext cx="5303520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5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Depth:</a:t>
            </a:r>
            <a:r>
              <a:rPr sz="15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some functions need exponentially many neurons with one hidden layer, few with more layers (Telgarsky; Eldan &amp; Shamir, COLT 2016).</a:t>
            </a:r>
            <a:endParaRPr lang="en-US" sz="1550"/>
          </a:p>
        </p:txBody>
      </p:sp>
      <p:sp>
        <p:nvSpPr>
          <p:cNvPr id="23" name="Reference"/>
          <p:cNvSpPr txBox="1"/>
          <p:nvPr/>
        </p:nvSpPr>
        <p:spPr>
          <a:xfrm>
            <a:off x="457200" y="6248400"/>
            <a:ext cx="1127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5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[6] Cybenko, Math. Control Signals Syst., 1989. [7] Hornik, Neural Networks, 1991. [8] Leshno, Lin, Pinkus, Schocken, Neural Networks, 1993.</a:t>
            </a:r>
            <a:endParaRPr lang="en-US" sz="1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Loss function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 dirty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III.</a:t>
            </a:r>
            <a:r>
              <a:rPr sz="2800" b="1" i="0" dirty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The loss function</a:t>
            </a:r>
            <a:endParaRPr lang="en-US" sz="2800" dirty="0"/>
          </a:p>
        </p:txBody>
      </p:sp>
      <p:sp>
        <p:nvSpPr>
          <p:cNvPr id="12" name="Definition"/>
          <p:cNvSpPr txBox="1"/>
          <p:nvPr/>
        </p:nvSpPr>
        <p:spPr>
          <a:xfrm>
            <a:off x="32835" y="6263640"/>
            <a:ext cx="591312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00" b="0" i="0" dirty="0">
                <a:solidFill>
                  <a:srgbClr val="4A5663"/>
                </a:solidFill>
                <a:latin typeface="Arial"/>
                <a:ea typeface="Arial"/>
                <a:cs typeface="Arial"/>
              </a:rPr>
              <a:t>Loss = cost function = </a:t>
            </a:r>
            <a:r>
              <a:rPr sz="1500" b="0" i="1" dirty="0">
                <a:solidFill>
                  <a:srgbClr val="4A5663"/>
                </a:solidFill>
                <a:latin typeface="Arial"/>
                <a:ea typeface="Arial"/>
                <a:cs typeface="Arial"/>
              </a:rPr>
              <a:t>empirical risk</a:t>
            </a:r>
            <a:endParaRPr lang="en-US" sz="15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2416CEA-D1A4-462E-2DCC-925313A4F575}"/>
              </a:ext>
            </a:extLst>
          </p:cNvPr>
          <p:cNvGrpSpPr/>
          <p:nvPr/>
        </p:nvGrpSpPr>
        <p:grpSpPr>
          <a:xfrm>
            <a:off x="5155469" y="2192094"/>
            <a:ext cx="5534303" cy="1922706"/>
            <a:chOff x="577663" y="2217420"/>
            <a:chExt cx="5534303" cy="1922706"/>
          </a:xfrm>
        </p:grpSpPr>
        <p:sp>
          <p:nvSpPr>
            <p:cNvPr id="14" name="Card"/>
            <p:cNvSpPr/>
            <p:nvPr/>
          </p:nvSpPr>
          <p:spPr>
            <a:xfrm>
              <a:off x="747486" y="2217420"/>
              <a:ext cx="5364480" cy="1811306"/>
            </a:xfrm>
            <a:prstGeom prst="roundRect">
              <a:avLst>
                <a:gd name="adj" fmla="val 1966"/>
              </a:avLst>
            </a:prstGeom>
            <a:solidFill>
              <a:srgbClr val="FFFFFF"/>
            </a:solidFill>
            <a:ln w="9525">
              <a:solidFill>
                <a:srgbClr val="E2E1D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Equation"/>
                <p:cNvSpPr txBox="1"/>
                <p:nvPr/>
              </p:nvSpPr>
              <p:spPr>
                <a:xfrm>
                  <a:off x="577663" y="2328820"/>
                  <a:ext cx="5375009" cy="18113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>
                            <a:solidFill>
                              <a:srgbClr val="1B2A3A"/>
                            </a:solidFill>
                            <a:latin typeface="Cambria Math"/>
                          </a:rPr>
                          <m:t>ℒ</m:t>
                        </m:r>
                        <m:r>
                          <a:rPr lang="en-US" sz="2800" i="1">
                            <a:solidFill>
                              <a:srgbClr val="1B2A3A"/>
                            </a:solidFill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1B2A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rgbClr val="1B2A3A"/>
                                </a:solidFill>
                                <a:latin typeface="Cambria Math"/>
                              </a:rPr>
                              <m:t>𝜽</m:t>
                            </m:r>
                          </m:e>
                        </m:d>
                        <m:r>
                          <a:rPr lang="en-US" sz="2800">
                            <a:solidFill>
                              <a:srgbClr val="1B2A3A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rgbClr val="1B2A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>
                                <a:solidFill>
                                  <a:srgbClr val="1B2A3A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>
                                <a:solidFill>
                                  <a:srgbClr val="1B2A3A"/>
                                </a:solidFill>
                                <a:latin typeface="Cambria Math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sz="2800" i="1">
                                <a:solidFill>
                                  <a:srgbClr val="1B2A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>
                                <a:solidFill>
                                  <a:srgbClr val="1B2A3A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2800">
                                <a:solidFill>
                                  <a:srgbClr val="1B2A3A"/>
                                </a:solidFill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>
                                <a:solidFill>
                                  <a:srgbClr val="1B2A3A"/>
                                </a:solidFill>
                                <a:latin typeface="Cambria Math"/>
                              </a:rPr>
                              <m:t>𝑁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2800" i="1">
                                    <a:solidFill>
                                      <a:srgbClr val="1B2A3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∥"/>
                                    <m:endChr m:val="∥"/>
                                    <m:ctrlPr>
                                      <a:rPr lang="en-US" sz="2800" i="1">
                                        <a:solidFill>
                                          <a:srgbClr val="1B2A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rgbClr val="1B2A3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sz="2800" i="1">
                                                <a:solidFill>
                                                  <a:srgbClr val="1B2A3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800">
                                                <a:solidFill>
                                                  <a:srgbClr val="1B2A3A"/>
                                                </a:solidFill>
                                                <a:latin typeface="Cambria Math"/>
                                              </a:rPr>
                                              <m:t>𝑓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800">
                                            <a:solidFill>
                                              <a:srgbClr val="1B2A3A"/>
                                            </a:solidFill>
                                            <a:latin typeface="Cambria Math"/>
                                          </a:rPr>
                                          <m:t>𝜽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800" i="1">
                                            <a:solidFill>
                                              <a:srgbClr val="1B2A3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800" i="1">
                                                <a:solidFill>
                                                  <a:srgbClr val="1B2A3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>
                                                <a:solidFill>
                                                  <a:srgbClr val="1B2A3A"/>
                                                </a:solidFill>
                                                <a:latin typeface="Cambria Math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>
                                                <a:solidFill>
                                                  <a:srgbClr val="1B2A3A"/>
                                                </a:solidFill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800">
                                        <a:solidFill>
                                          <a:srgbClr val="1B2A3A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rgbClr val="1B2A3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>
                                            <a:solidFill>
                                              <a:srgbClr val="1B2A3A"/>
                                            </a:solidFill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2800">
                                            <a:solidFill>
                                              <a:srgbClr val="1B2A3A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800">
                                    <a:solidFill>
                                      <a:srgbClr val="1B2A3A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663" y="2328820"/>
                  <a:ext cx="5375009" cy="1811306"/>
                </a:xfrm>
                <a:prstGeom prst="rect">
                  <a:avLst/>
                </a:prstGeom>
                <a:blipFill>
                  <a:blip r:embed="rId2"/>
                  <a:stretch>
                    <a:fillRect t="-58741" b="-101399"/>
                  </a:stretch>
                </a:blipFill>
              </p:spPr>
              <p:txBody>
                <a:bodyPr/>
                <a:lstStyle/>
                <a:p>
                  <a:r>
                    <a:rPr lang="en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Equation">
                <a:extLst>
                  <a:ext uri="{FF2B5EF4-FFF2-40B4-BE49-F238E27FC236}">
                    <a16:creationId xmlns:a16="http://schemas.microsoft.com/office/drawing/2014/main" id="{BDB9F510-62CC-594B-82A3-8FF7A0373D3C}"/>
                  </a:ext>
                </a:extLst>
              </p:cNvPr>
              <p:cNvSpPr txBox="1"/>
              <p:nvPr/>
            </p:nvSpPr>
            <p:spPr>
              <a:xfrm>
                <a:off x="510540" y="1219620"/>
                <a:ext cx="4867828" cy="34968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𝑓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: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→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,  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𝒙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↦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𝒚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unknown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Equation">
                <a:extLst>
                  <a:ext uri="{FF2B5EF4-FFF2-40B4-BE49-F238E27FC236}">
                    <a16:creationId xmlns:a16="http://schemas.microsoft.com/office/drawing/2014/main" id="{BDB9F510-62CC-594B-82A3-8FF7A0373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" y="1219620"/>
                <a:ext cx="4867828" cy="349681"/>
              </a:xfrm>
              <a:prstGeom prst="rect">
                <a:avLst/>
              </a:prstGeom>
              <a:blipFill>
                <a:blip r:embed="rId3"/>
                <a:stretch>
                  <a:fillRect l="-2344" b="-25000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Equation">
                <a:extLst>
                  <a:ext uri="{FF2B5EF4-FFF2-40B4-BE49-F238E27FC236}">
                    <a16:creationId xmlns:a16="http://schemas.microsoft.com/office/drawing/2014/main" id="{352ABFDE-0483-3E93-2A1F-0CD74BCA8A13}"/>
                  </a:ext>
                </a:extLst>
              </p:cNvPr>
              <p:cNvSpPr txBox="1"/>
              <p:nvPr/>
            </p:nvSpPr>
            <p:spPr>
              <a:xfrm>
                <a:off x="510540" y="1657655"/>
                <a:ext cx="5208985" cy="38800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𝒟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}</m:t>
                          </m:r>
                        </m:e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𝑁</m:t>
                          </m:r>
                        </m:sup>
                      </m:sSubSup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,  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𝜺</m:t>
                          </m:r>
                        </m:e>
                        <m:sub>
                          <m:r>
                            <a:rPr lang="en-US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noise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rgbClr val="1B2A3A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Equation">
                <a:extLst>
                  <a:ext uri="{FF2B5EF4-FFF2-40B4-BE49-F238E27FC236}">
                    <a16:creationId xmlns:a16="http://schemas.microsoft.com/office/drawing/2014/main" id="{352ABFDE-0483-3E93-2A1F-0CD74BCA8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" y="1657655"/>
                <a:ext cx="5208985" cy="388009"/>
              </a:xfrm>
              <a:prstGeom prst="rect">
                <a:avLst/>
              </a:prstGeom>
              <a:blipFill>
                <a:blip r:embed="rId4"/>
                <a:stretch>
                  <a:fillRect l="-1460" b="-12500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quation box">
            <a:extLst>
              <a:ext uri="{FF2B5EF4-FFF2-40B4-BE49-F238E27FC236}">
                <a16:creationId xmlns:a16="http://schemas.microsoft.com/office/drawing/2014/main" id="{FE0922E8-9591-E40B-3A0D-0C33F095AE42}"/>
              </a:ext>
            </a:extLst>
          </p:cNvPr>
          <p:cNvSpPr/>
          <p:nvPr/>
        </p:nvSpPr>
        <p:spPr>
          <a:xfrm>
            <a:off x="5326380" y="1310640"/>
            <a:ext cx="5791200" cy="655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Equation">
                <a:extLst>
                  <a:ext uri="{FF2B5EF4-FFF2-40B4-BE49-F238E27FC236}">
                    <a16:creationId xmlns:a16="http://schemas.microsoft.com/office/drawing/2014/main" id="{537EDF6A-F86F-D321-3EAB-D7B38E16D532}"/>
                  </a:ext>
                </a:extLst>
              </p:cNvPr>
              <p:cNvSpPr txBox="1"/>
              <p:nvPr/>
            </p:nvSpPr>
            <p:spPr>
              <a:xfrm>
                <a:off x="5245425" y="1451230"/>
                <a:ext cx="5953110" cy="37414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find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𝜽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such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that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80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≈</m:t>
                      </m:r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800">
                          <a:solidFill>
                            <a:srgbClr val="1B2A3A"/>
                          </a:solidFill>
                          <a:latin typeface="Cambria Math"/>
                        </a:rPr>
                        <m:t>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Equation">
                <a:extLst>
                  <a:ext uri="{FF2B5EF4-FFF2-40B4-BE49-F238E27FC236}">
                    <a16:creationId xmlns:a16="http://schemas.microsoft.com/office/drawing/2014/main" id="{537EDF6A-F86F-D321-3EAB-D7B38E16D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425" y="1451230"/>
                <a:ext cx="5953110" cy="374141"/>
              </a:xfrm>
              <a:prstGeom prst="rect">
                <a:avLst/>
              </a:prstGeom>
              <a:blipFill>
                <a:blip r:embed="rId5"/>
                <a:stretch>
                  <a:fillRect t="-20000" b="-56667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gression">
            <a:extLst>
              <a:ext uri="{FF2B5EF4-FFF2-40B4-BE49-F238E27FC236}">
                <a16:creationId xmlns:a16="http://schemas.microsoft.com/office/drawing/2014/main" id="{FF670A52-FF91-95B0-05C0-570098560F7A}"/>
              </a:ext>
            </a:extLst>
          </p:cNvPr>
          <p:cNvSpPr txBox="1"/>
          <p:nvPr/>
        </p:nvSpPr>
        <p:spPr>
          <a:xfrm>
            <a:off x="5416732" y="2293620"/>
            <a:ext cx="51816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00" b="1" i="0" dirty="0">
                <a:solidFill>
                  <a:srgbClr val="9B2C3C"/>
                </a:solidFill>
                <a:latin typeface="Arial"/>
                <a:ea typeface="Arial"/>
                <a:cs typeface="Arial"/>
              </a:rPr>
              <a:t>Regression</a:t>
            </a:r>
            <a:r>
              <a:rPr lang="fr-FR" sz="2000" b="1" i="0" dirty="0">
                <a:solidFill>
                  <a:srgbClr val="9B2C3C"/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1" i="0" dirty="0" err="1">
                <a:solidFill>
                  <a:srgbClr val="9B2C3C"/>
                </a:solidFill>
                <a:latin typeface="Arial"/>
                <a:ea typeface="Arial"/>
                <a:cs typeface="Arial"/>
              </a:rPr>
              <a:t>loss</a:t>
            </a:r>
            <a:r>
              <a:rPr sz="2000" b="1" i="0" dirty="0">
                <a:solidFill>
                  <a:srgbClr val="9B2C3C"/>
                </a:solidFill>
                <a:latin typeface="Arial"/>
                <a:ea typeface="Arial"/>
                <a:cs typeface="Arial"/>
              </a:rPr>
              <a:t>:</a:t>
            </a:r>
            <a:r>
              <a:rPr lang="fr-FR" sz="2000" b="1" i="0" dirty="0">
                <a:solidFill>
                  <a:srgbClr val="9B2C3C"/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1" i="0" dirty="0" err="1">
                <a:solidFill>
                  <a:srgbClr val="9B2C3C"/>
                </a:solidFill>
                <a:latin typeface="Arial"/>
                <a:ea typeface="Arial"/>
                <a:cs typeface="Arial"/>
              </a:rPr>
              <a:t>Mean</a:t>
            </a:r>
            <a:r>
              <a:rPr lang="fr-FR" sz="2000" b="1" i="0" dirty="0">
                <a:solidFill>
                  <a:srgbClr val="9B2C3C"/>
                </a:solidFill>
                <a:latin typeface="Arial"/>
                <a:ea typeface="Arial"/>
                <a:cs typeface="Arial"/>
              </a:rPr>
              <a:t> Square </a:t>
            </a:r>
            <a:r>
              <a:rPr lang="fr-FR" sz="2000" b="1" i="0" dirty="0" err="1">
                <a:solidFill>
                  <a:srgbClr val="9B2C3C"/>
                </a:solidFill>
                <a:latin typeface="Arial"/>
                <a:ea typeface="Arial"/>
                <a:cs typeface="Arial"/>
              </a:rPr>
              <a:t>Error</a:t>
            </a:r>
            <a:r>
              <a:rPr lang="fr-FR" sz="2000" b="1" i="0" dirty="0">
                <a:solidFill>
                  <a:srgbClr val="9B2C3C"/>
                </a:solidFill>
                <a:latin typeface="Arial"/>
                <a:ea typeface="Arial"/>
                <a:cs typeface="Arial"/>
              </a:rPr>
              <a:t> (MSE)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Data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III.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Data: normalize, then split</a:t>
            </a:r>
            <a:endParaRPr lang="en-US" sz="2800"/>
          </a:p>
        </p:txBody>
      </p:sp>
      <p:sp>
        <p:nvSpPr>
          <p:cNvPr id="11" name="Normalize"/>
          <p:cNvSpPr txBox="1"/>
          <p:nvPr/>
        </p:nvSpPr>
        <p:spPr>
          <a:xfrm>
            <a:off x="457200" y="1219200"/>
            <a:ext cx="7315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1 · Normalize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inputs and outputs to order 1:</a:t>
            </a:r>
            <a:endParaRPr lang="en-US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uation"/>
              <p:cNvSpPr txBox="1"/>
              <p:nvPr/>
            </p:nvSpPr>
            <p:spPr>
              <a:xfrm>
                <a:off x="7978140" y="1008948"/>
                <a:ext cx="1468010" cy="72530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1840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184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4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𝜇</m:t>
                          </m:r>
                        </m:num>
                        <m:den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sz="1840"/>
              </a:p>
            </p:txBody>
          </p:sp>
        </mc:Choice>
        <mc:Fallback xmlns="">
          <p:sp>
            <p:nvSpPr>
              <p:cNvPr id="12" name="Equation"/>
              <p:cNvSpPr txBox="1"/>
              <p:nvPr/>
            </p:nvSpPr>
            <p:spPr>
              <a:xfrm>
                <a:off x="8001000" y="1110221"/>
                <a:ext cx="1179500" cy="5227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3" name="Split"/>
          <p:cNvSpPr txBox="1"/>
          <p:nvPr/>
        </p:nvSpPr>
        <p:spPr>
          <a:xfrm>
            <a:off x="457200" y="1813560"/>
            <a:ext cx="685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2 · Split at random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into three disjoint sets:</a:t>
            </a:r>
            <a:endParaRPr lang="en-US" sz="1950"/>
          </a:p>
        </p:txBody>
      </p:sp>
      <p:pic>
        <p:nvPicPr>
          <p:cNvPr id="14" name="Split scatter" descr="s1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0"/>
            <a:ext cx="3581400" cy="2517618"/>
          </a:xfrm>
          <a:prstGeom prst="rect">
            <a:avLst/>
          </a:prstGeom>
        </p:spPr>
      </p:pic>
      <p:sp>
        <p:nvSpPr>
          <p:cNvPr id="15" name="Dot"/>
          <p:cNvSpPr/>
          <p:nvPr/>
        </p:nvSpPr>
        <p:spPr>
          <a:xfrm>
            <a:off x="4495800" y="2377440"/>
            <a:ext cx="182880" cy="182880"/>
          </a:xfrm>
          <a:prstGeom prst="ellipse">
            <a:avLst/>
          </a:prstGeom>
          <a:solidFill>
            <a:srgbClr val="2F5D8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Set"/>
          <p:cNvSpPr txBox="1"/>
          <p:nvPr/>
        </p:nvSpPr>
        <p:spPr>
          <a:xfrm>
            <a:off x="4815840" y="2286000"/>
            <a:ext cx="685800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100" b="1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Training (≈ 60 %)</a:t>
            </a:r>
            <a:endParaRPr lang="en-US" sz="2100"/>
          </a:p>
        </p:txBody>
      </p:sp>
      <p:sp>
        <p:nvSpPr>
          <p:cNvPr id="17" name="Set role"/>
          <p:cNvSpPr txBox="1"/>
          <p:nvPr/>
        </p:nvSpPr>
        <p:spPr>
          <a:xfrm>
            <a:off x="4815840" y="2621280"/>
            <a:ext cx="685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used to </a:t>
            </a:r>
            <a:r>
              <a:rPr sz="1850" b="1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fit θ</a:t>
            </a:r>
            <a:r>
              <a:rPr sz="18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: we minimize the loss on it</a:t>
            </a:r>
            <a:endParaRPr lang="en-US" sz="1850"/>
          </a:p>
        </p:txBody>
      </p:sp>
      <p:sp>
        <p:nvSpPr>
          <p:cNvPr id="18" name="Dot"/>
          <p:cNvSpPr/>
          <p:nvPr/>
        </p:nvSpPr>
        <p:spPr>
          <a:xfrm>
            <a:off x="4495800" y="4358640"/>
            <a:ext cx="182880" cy="182880"/>
          </a:xfrm>
          <a:prstGeom prst="ellipse">
            <a:avLst/>
          </a:prstGeom>
          <a:solidFill>
            <a:srgbClr val="9B2C3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Set"/>
          <p:cNvSpPr txBox="1"/>
          <p:nvPr/>
        </p:nvSpPr>
        <p:spPr>
          <a:xfrm>
            <a:off x="4815840" y="4267200"/>
            <a:ext cx="685800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100" b="1" i="0">
                <a:solidFill>
                  <a:srgbClr val="9B2C3C"/>
                </a:solidFill>
                <a:latin typeface="Arial"/>
                <a:ea typeface="Arial"/>
                <a:cs typeface="Arial"/>
              </a:rPr>
              <a:t>Validation (≈ 20 %)</a:t>
            </a:r>
            <a:endParaRPr lang="en-US" sz="2100"/>
          </a:p>
        </p:txBody>
      </p:sp>
      <p:sp>
        <p:nvSpPr>
          <p:cNvPr id="20" name="Set role"/>
          <p:cNvSpPr txBox="1"/>
          <p:nvPr/>
        </p:nvSpPr>
        <p:spPr>
          <a:xfrm>
            <a:off x="4815840" y="4602480"/>
            <a:ext cx="685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never updates θ: detects overfitting, chooses hyperparameters</a:t>
            </a:r>
            <a:endParaRPr lang="en-US" sz="1850"/>
          </a:p>
        </p:txBody>
      </p:sp>
      <p:sp>
        <p:nvSpPr>
          <p:cNvPr id="21" name="Dot"/>
          <p:cNvSpPr/>
          <p:nvPr/>
        </p:nvSpPr>
        <p:spPr>
          <a:xfrm>
            <a:off x="4495800" y="5273040"/>
            <a:ext cx="182880" cy="182880"/>
          </a:xfrm>
          <a:prstGeom prst="ellipse">
            <a:avLst/>
          </a:prstGeom>
          <a:solidFill>
            <a:srgbClr val="2E7D6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2" name="Set"/>
          <p:cNvSpPr txBox="1"/>
          <p:nvPr/>
        </p:nvSpPr>
        <p:spPr>
          <a:xfrm>
            <a:off x="4815840" y="5181600"/>
            <a:ext cx="685800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100" b="1" i="0">
                <a:solidFill>
                  <a:srgbClr val="2E7D6B"/>
                </a:solidFill>
                <a:latin typeface="Arial"/>
                <a:ea typeface="Arial"/>
                <a:cs typeface="Arial"/>
              </a:rPr>
              <a:t>Test (≈ 20 %)</a:t>
            </a:r>
            <a:endParaRPr lang="en-US" sz="2100"/>
          </a:p>
        </p:txBody>
      </p:sp>
      <p:sp>
        <p:nvSpPr>
          <p:cNvPr id="23" name="Set role"/>
          <p:cNvSpPr txBox="1"/>
          <p:nvPr/>
        </p:nvSpPr>
        <p:spPr>
          <a:xfrm>
            <a:off x="4815840" y="5516880"/>
            <a:ext cx="685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used </a:t>
            </a:r>
            <a:r>
              <a:rPr sz="1850" b="1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once</a:t>
            </a:r>
            <a:r>
              <a:rPr sz="18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, at the very end: final error</a:t>
            </a:r>
            <a:endParaRPr lang="en-US" sz="1850"/>
          </a:p>
        </p:txBody>
      </p:sp>
      <p:sp>
        <p:nvSpPr>
          <p:cNvPr id="24" name="Equation box"/>
          <p:cNvSpPr/>
          <p:nvPr/>
        </p:nvSpPr>
        <p:spPr>
          <a:xfrm>
            <a:off x="4815840" y="3032760"/>
            <a:ext cx="67056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D8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Equation"/>
              <p:cNvSpPr txBox="1"/>
              <p:nvPr/>
            </p:nvSpPr>
            <p:spPr>
              <a:xfrm>
                <a:off x="5341301" y="3019130"/>
                <a:ext cx="5654679" cy="101786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32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93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min</m:t>
                          </m:r>
                        </m:e>
                        <m:sub>
                          <m:r>
                            <a:rPr lang="en-US" sz="193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sub>
                      </m:sSub>
                      <m:r>
                        <a:rPr lang="en-US" sz="1932">
                          <a:solidFill>
                            <a:srgbClr val="1B2A3A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932">
                          <a:solidFill>
                            <a:srgbClr val="1B2A3A"/>
                          </a:solidFill>
                          <a:latin typeface="Cambria Math"/>
                        </a:rPr>
                        <m:t>ℒ</m:t>
                      </m:r>
                      <m:d>
                        <m:dPr>
                          <m:ctrlPr>
                            <a:rPr lang="en-US" sz="1932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3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</m:d>
                      <m:r>
                        <a:rPr lang="en-US" sz="1932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932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3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932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32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932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train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932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93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193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93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train</m:t>
                          </m:r>
                        </m:sub>
                        <m:sup>
                          <m:r>
                            <a:rPr lang="en-US" sz="193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932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∥"/>
                                  <m:endChr m:val="∥"/>
                                  <m:ctrlPr>
                                    <a:rPr lang="en-US" sz="1932" i="1">
                                      <a:solidFill>
                                        <a:srgbClr val="1B2A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932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932" i="1">
                                              <a:solidFill>
                                                <a:srgbClr val="1B2A3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932">
                                              <a:solidFill>
                                                <a:srgbClr val="1B2A3A"/>
                                              </a:solidFill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932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932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932" i="1">
                                              <a:solidFill>
                                                <a:srgbClr val="1B2A3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932">
                                              <a:solidFill>
                                                <a:srgbClr val="1B2A3A"/>
                                              </a:solidFill>
                                              <a:latin typeface="Cambria Math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932">
                                              <a:solidFill>
                                                <a:srgbClr val="1B2A3A"/>
                                              </a:solidFill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932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932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32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932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1932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932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932"/>
              </a:p>
            </p:txBody>
          </p:sp>
        </mc:Choice>
        <mc:Fallback xmlns="">
          <p:sp>
            <p:nvSpPr>
              <p:cNvPr id="25" name="Equation"/>
              <p:cNvSpPr txBox="1"/>
              <p:nvPr/>
            </p:nvSpPr>
            <p:spPr>
              <a:xfrm>
                <a:off x="5804878" y="3154160"/>
                <a:ext cx="4727524" cy="747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Optimization problem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III.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Training is an optimization problem</a:t>
            </a:r>
            <a:endParaRPr lang="en-US" sz="2800"/>
          </a:p>
        </p:txBody>
      </p:sp>
      <p:pic>
        <p:nvPicPr>
          <p:cNvPr id="11" name="Loss landscape" descr="s1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4435642" cy="5029200"/>
          </a:xfrm>
          <a:prstGeom prst="rect">
            <a:avLst/>
          </a:prstGeom>
        </p:spPr>
      </p:pic>
      <p:sp>
        <p:nvSpPr>
          <p:cNvPr id="12" name="Equation box"/>
          <p:cNvSpPr/>
          <p:nvPr/>
        </p:nvSpPr>
        <p:spPr>
          <a:xfrm>
            <a:off x="5486400" y="1333500"/>
            <a:ext cx="42672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5969625" y="1316770"/>
                <a:ext cx="3300750" cy="87165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92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  <m:sup>
                          <m:r>
                            <a:rPr lang="en-US" sz="23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2392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392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3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arg</m:t>
                          </m:r>
                          <m:r>
                            <a:rPr lang="en-US" sz="23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 </m:t>
                          </m:r>
                          <m:r>
                            <m:rPr>
                              <m:sty m:val="p"/>
                            </m:rPr>
                            <a:rPr lang="en-US" sz="23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min</m:t>
                          </m:r>
                        </m:e>
                        <m:sub>
                          <m:r>
                            <a:rPr lang="en-US" sz="23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  <m:r>
                            <a:rPr lang="en-US" sz="23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392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92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392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sup>
                          </m:sSup>
                        </m:sub>
                      </m:sSub>
                      <m:r>
                        <a:rPr lang="en-US" sz="2392">
                          <a:solidFill>
                            <a:srgbClr val="1B2A3A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392">
                          <a:solidFill>
                            <a:srgbClr val="1B2A3A"/>
                          </a:solidFill>
                          <a:latin typeface="Cambria Math"/>
                        </a:rPr>
                        <m:t>ℒ</m:t>
                      </m:r>
                      <m:d>
                        <m:dPr>
                          <m:ctrlPr>
                            <a:rPr lang="en-US" sz="2392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sz="2392"/>
              </a:p>
            </p:txBody>
          </p:sp>
        </mc:Choice>
        <mc:Fallback xmlns="">
          <p:sp>
            <p:nvSpPr>
              <p:cNvPr id="13" name="Equation"/>
              <p:cNvSpPr txBox="1"/>
              <p:nvPr/>
            </p:nvSpPr>
            <p:spPr>
              <a:xfrm>
                <a:off x="6253665" y="1434931"/>
                <a:ext cx="2732669" cy="635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4" name="Points"/>
          <p:cNvSpPr txBox="1"/>
          <p:nvPr/>
        </p:nvSpPr>
        <p:spPr>
          <a:xfrm>
            <a:off x="5486400" y="2514600"/>
            <a:ext cx="6248400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6694" indent="-226694" algn="l">
              <a:lnSpc>
                <a:spcPct val="105000"/>
              </a:lnSpc>
              <a:spcAft>
                <a:spcPts val="2200"/>
              </a:spcAft>
              <a:buFont typeface="Arial"/>
              <a:buChar char="•"/>
            </a:pPr>
            <a:r>
              <a:rPr sz="210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d unknowns</a:t>
            </a:r>
            <a:r>
              <a:rPr sz="21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10³ (a PINN) … 10¹¹ (GPT-3)</a:t>
            </a:r>
            <a:endParaRPr lang="en-US" sz="2100"/>
          </a:p>
          <a:p>
            <a:pPr marL="226694" indent="-226694" algn="l">
              <a:lnSpc>
                <a:spcPct val="105000"/>
              </a:lnSpc>
              <a:spcAft>
                <a:spcPts val="2200"/>
              </a:spcAft>
              <a:buFont typeface="Arial"/>
              <a:buChar char="•"/>
            </a:pPr>
            <a:r>
              <a:rPr sz="21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ℒ is </a:t>
            </a:r>
            <a:r>
              <a:rPr sz="210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nonlinear</a:t>
            </a:r>
            <a:r>
              <a:rPr sz="21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in θ: </a:t>
            </a:r>
            <a:r>
              <a:rPr sz="210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no formula</a:t>
            </a:r>
            <a:r>
              <a:rPr sz="21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for θ*</a:t>
            </a:r>
            <a:endParaRPr lang="en-US" sz="2100"/>
          </a:p>
          <a:p>
            <a:pPr marL="226694" indent="-226694" algn="l">
              <a:lnSpc>
                <a:spcPct val="105000"/>
              </a:lnSpc>
              <a:spcAft>
                <a:spcPts val="2200"/>
              </a:spcAft>
              <a:buFont typeface="Arial"/>
              <a:buChar char="•"/>
            </a:pPr>
            <a:r>
              <a:rPr sz="21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so we </a:t>
            </a:r>
            <a:r>
              <a:rPr sz="210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iterate</a:t>
            </a:r>
            <a:r>
              <a:rPr sz="21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θ₀ → θ₁ → θ₂ → … → θ*</a:t>
            </a:r>
            <a:endParaRPr lang="en-US" sz="2100"/>
          </a:p>
          <a:p>
            <a:pPr marL="226694" indent="-226694" algn="l">
              <a:lnSpc>
                <a:spcPct val="105000"/>
              </a:lnSpc>
              <a:spcAft>
                <a:spcPts val="2200"/>
              </a:spcAft>
              <a:buFont typeface="Arial"/>
              <a:buChar char="•"/>
            </a:pPr>
            <a:r>
              <a:rPr sz="21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ℒ has </a:t>
            </a:r>
            <a:r>
              <a:rPr sz="210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several valleys</a:t>
            </a:r>
            <a:r>
              <a:rPr sz="21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the result depends on θ₀</a:t>
            </a:r>
            <a:endParaRPr lang="en-US"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Reminder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Reminder: a minimum is a critical point</a:t>
            </a:r>
            <a:endParaRPr lang="en-US" sz="2800"/>
          </a:p>
        </p:txBody>
      </p:sp>
      <p:pic>
        <p:nvPicPr>
          <p:cNvPr id="11" name="Critical points 1D" descr="critical_points_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858000" cy="4429125"/>
          </a:xfrm>
          <a:prstGeom prst="rect">
            <a:avLst/>
          </a:prstGeom>
        </p:spPr>
      </p:pic>
      <p:sp>
        <p:nvSpPr>
          <p:cNvPr id="12" name="Equation box"/>
          <p:cNvSpPr/>
          <p:nvPr/>
        </p:nvSpPr>
        <p:spPr>
          <a:xfrm>
            <a:off x="7620000" y="1333500"/>
            <a:ext cx="41148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7551450" y="1483019"/>
                <a:ext cx="4251899" cy="46296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992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en-US" sz="19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1992">
                          <a:solidFill>
                            <a:srgbClr val="1B2A3A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</m:rPr>
                        <a:rPr lang="en-US" sz="1992">
                          <a:solidFill>
                            <a:srgbClr val="1B2A3A"/>
                          </a:solidFill>
                          <a:latin typeface="Cambria Math"/>
                        </a:rPr>
                        <m:t>minimum</m:t>
                      </m:r>
                      <m:r>
                        <a:rPr lang="en-US" sz="1992">
                          <a:solidFill>
                            <a:srgbClr val="1B2A3A"/>
                          </a:solidFill>
                          <a:latin typeface="Cambria Math"/>
                        </a:rPr>
                        <m:t> ⇒ </m:t>
                      </m:r>
                      <m:sSup>
                        <m:sSupPr>
                          <m:ctrlPr>
                            <a:rPr lang="en-US" sz="1992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ℒ</m:t>
                          </m:r>
                        </m:e>
                        <m:sup>
                          <m:r>
                            <a:rPr lang="en-US" sz="1992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992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992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92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992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1992">
                          <a:solidFill>
                            <a:srgbClr val="1B2A3A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1992"/>
              </a:p>
            </p:txBody>
          </p:sp>
        </mc:Choice>
        <mc:Fallback xmlns="">
          <p:sp>
            <p:nvSpPr>
              <p:cNvPr id="13" name="Equation"/>
              <p:cNvSpPr txBox="1"/>
              <p:nvPr/>
            </p:nvSpPr>
            <p:spPr>
              <a:xfrm>
                <a:off x="7908036" y="1554022"/>
                <a:ext cx="3538728" cy="3209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4" name="Not sufficient"/>
          <p:cNvSpPr txBox="1"/>
          <p:nvPr/>
        </p:nvSpPr>
        <p:spPr>
          <a:xfrm>
            <a:off x="7620000" y="2286000"/>
            <a:ext cx="4114800" cy="106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Necessary, 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not sufficient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a critical point can be a </a:t>
            </a:r>
            <a:r>
              <a:rPr sz="1950" b="0" i="0">
                <a:solidFill>
                  <a:srgbClr val="2E7D6B"/>
                </a:solidFill>
                <a:latin typeface="Arial"/>
                <a:ea typeface="Arial"/>
                <a:cs typeface="Arial"/>
              </a:rPr>
              <a:t>minimum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, a </a:t>
            </a:r>
            <a:r>
              <a:rPr sz="1950" b="0" i="0">
                <a:solidFill>
                  <a:srgbClr val="9B2C3C"/>
                </a:solidFill>
                <a:latin typeface="Arial"/>
                <a:ea typeface="Arial"/>
                <a:cs typeface="Arial"/>
              </a:rPr>
              <a:t>maximum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or a </a:t>
            </a:r>
            <a:r>
              <a:rPr sz="1950" b="0" i="0">
                <a:solidFill>
                  <a:srgbClr val="6B7480"/>
                </a:solidFill>
                <a:latin typeface="Arial"/>
                <a:ea typeface="Arial"/>
                <a:cs typeface="Arial"/>
              </a:rPr>
              <a:t>saddle point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.</a:t>
            </a:r>
            <a:endParaRPr lang="en-US" sz="1950"/>
          </a:p>
        </p:txBody>
      </p:sp>
      <p:sp>
        <p:nvSpPr>
          <p:cNvPr id="15" name="d dimensions"/>
          <p:cNvSpPr txBox="1"/>
          <p:nvPr/>
        </p:nvSpPr>
        <p:spPr>
          <a:xfrm>
            <a:off x="7620000" y="3467100"/>
            <a:ext cx="411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In d dimensions:</a:t>
            </a:r>
            <a:endParaRPr lang="en-US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uation"/>
              <p:cNvSpPr txBox="1"/>
              <p:nvPr/>
            </p:nvSpPr>
            <p:spPr>
              <a:xfrm>
                <a:off x="7620000" y="3701515"/>
                <a:ext cx="4615371" cy="75037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∇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ℒ</m:t>
                      </m:r>
                      <m:d>
                        <m:d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,  </m:t>
                      </m:r>
                      <m:r>
                        <m:rPr>
                          <m:sty m:val="p"/>
                        </m:rP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∇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ℒ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∂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∂</m:t>
                              </m:r>
                              <m:sSub>
                                <m:sSubPr>
                                  <m:ctrlPr>
                                    <a:rPr lang="en-US" sz="1564" i="1">
                                      <a:solidFill>
                                        <a:srgbClr val="1B2A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64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564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,…,</m:t>
                          </m:r>
                          <m:f>
                            <m:f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∂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∂</m:t>
                              </m:r>
                              <m:sSub>
                                <m:sSubPr>
                                  <m:ctrlPr>
                                    <a:rPr lang="en-US" sz="1564" i="1">
                                      <a:solidFill>
                                        <a:srgbClr val="1B2A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64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564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564"/>
              </a:p>
            </p:txBody>
          </p:sp>
        </mc:Choice>
        <mc:Fallback xmlns="">
          <p:sp>
            <p:nvSpPr>
              <p:cNvPr id="16" name="Equation"/>
              <p:cNvSpPr txBox="1"/>
              <p:nvPr/>
            </p:nvSpPr>
            <p:spPr>
              <a:xfrm>
                <a:off x="7642860" y="3805681"/>
                <a:ext cx="3846755" cy="5420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7" name="Local vs global"/>
          <p:cNvSpPr txBox="1"/>
          <p:nvPr/>
        </p:nvSpPr>
        <p:spPr>
          <a:xfrm>
            <a:off x="7620000" y="4724400"/>
            <a:ext cx="4114800" cy="106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A </a:t>
            </a:r>
            <a:r>
              <a:rPr sz="1950" b="1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local</a:t>
            </a:r>
            <a:r>
              <a:rPr sz="19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 minimum is not always the </a:t>
            </a:r>
            <a:r>
              <a:rPr sz="1950" b="1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global</a:t>
            </a:r>
            <a:r>
              <a:rPr sz="19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 one.</a:t>
            </a:r>
            <a:endParaRPr lang="en-US" sz="1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Gradient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The gradient is perpendicular to the level lines</a:t>
            </a:r>
            <a:endParaRPr lang="en-US" sz="2800"/>
          </a:p>
        </p:txBody>
      </p:sp>
      <p:pic>
        <p:nvPicPr>
          <p:cNvPr id="11" name="Gradient and level lines" descr="gradient_level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57300"/>
            <a:ext cx="7086600" cy="3700780"/>
          </a:xfrm>
          <a:prstGeom prst="rect">
            <a:avLst/>
          </a:prstGeom>
        </p:spPr>
      </p:pic>
      <p:sp>
        <p:nvSpPr>
          <p:cNvPr id="12" name="Points"/>
          <p:cNvSpPr txBox="1"/>
          <p:nvPr/>
        </p:nvSpPr>
        <p:spPr>
          <a:xfrm>
            <a:off x="7543800" y="1333500"/>
            <a:ext cx="4191000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0502" indent="-210502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Level line: all θ with the 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same loss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ℒ(θ) = c</a:t>
            </a:r>
            <a:endParaRPr lang="en-US" sz="1950"/>
          </a:p>
          <a:p>
            <a:pPr marL="210502" indent="-210502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950" b="0" i="0">
                <a:solidFill>
                  <a:srgbClr val="9B2C3C"/>
                </a:solidFill>
                <a:latin typeface="Arial"/>
                <a:ea typeface="Arial"/>
                <a:cs typeface="Arial"/>
              </a:rPr>
              <a:t>∇ℒ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is 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perpendicular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to the level lines and points to 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larger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values</a:t>
            </a:r>
            <a:endParaRPr lang="en-US" sz="1950"/>
          </a:p>
          <a:p>
            <a:pPr marL="210502" indent="-210502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95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−∇ℒ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the direction of 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steepest descent</a:t>
            </a:r>
            <a:endParaRPr lang="en-US" sz="1950"/>
          </a:p>
        </p:txBody>
      </p:sp>
      <p:sp>
        <p:nvSpPr>
          <p:cNvPr id="13" name="Why"/>
          <p:cNvSpPr txBox="1"/>
          <p:nvPr/>
        </p:nvSpPr>
        <p:spPr>
          <a:xfrm>
            <a:off x="7543800" y="4267200"/>
            <a:ext cx="4191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Why?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Taylor, for a small step h:</a:t>
            </a:r>
            <a:endParaRPr lang="en-US" sz="18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"/>
              <p:cNvSpPr txBox="1"/>
              <p:nvPr/>
            </p:nvSpPr>
            <p:spPr>
              <a:xfrm>
                <a:off x="7559040" y="4583054"/>
                <a:ext cx="3368693" cy="35889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ℒ</m:t>
                      </m:r>
                      <m:d>
                        <m:d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𝒉</m:t>
                          </m:r>
                        </m:e>
                      </m:d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≈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ℒ</m:t>
                      </m:r>
                      <m:d>
                        <m:d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</m:d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∇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ℒ</m:t>
                      </m:r>
                      <m:d>
                        <m:d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</m:d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⋅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𝒉</m:t>
                      </m:r>
                    </m:oMath>
                  </m:oMathPara>
                </a14:m>
                <a:endParaRPr lang="en-US" sz="1564"/>
              </a:p>
            </p:txBody>
          </p:sp>
        </mc:Choice>
        <mc:Fallback xmlns="">
          <p:sp>
            <p:nvSpPr>
              <p:cNvPr id="14" name="Equation"/>
              <p:cNvSpPr txBox="1"/>
              <p:nvPr/>
            </p:nvSpPr>
            <p:spPr>
              <a:xfrm>
                <a:off x="7581900" y="4642049"/>
                <a:ext cx="2790248" cy="2409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5" name="Analogy"/>
          <p:cNvSpPr txBox="1"/>
          <p:nvPr/>
        </p:nvSpPr>
        <p:spPr>
          <a:xfrm>
            <a:off x="7543800" y="5067300"/>
            <a:ext cx="4191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750" b="0" i="0">
                <a:solidFill>
                  <a:srgbClr val="6B7480"/>
                </a:solidFill>
                <a:latin typeface="Arial"/>
                <a:ea typeface="Arial"/>
                <a:cs typeface="Arial"/>
              </a:rPr>
              <a:t>Like electrostatics: equipotentials V = c, and the field </a:t>
            </a:r>
            <a:r>
              <a:rPr sz="1750" b="1" i="0">
                <a:solidFill>
                  <a:srgbClr val="6B7480"/>
                </a:solidFill>
                <a:latin typeface="Arial"/>
                <a:ea typeface="Arial"/>
                <a:cs typeface="Arial"/>
              </a:rPr>
              <a:t>E</a:t>
            </a:r>
            <a:r>
              <a:rPr sz="1750" b="0" i="0">
                <a:solidFill>
                  <a:srgbClr val="6B7480"/>
                </a:solidFill>
                <a:latin typeface="Arial"/>
                <a:ea typeface="Arial"/>
                <a:cs typeface="Arial"/>
              </a:rPr>
              <a:t> = −∇V perpendicular to them.</a:t>
            </a:r>
            <a:endParaRPr lang="en-US" sz="17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Gradient descent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Gradient descent</a:t>
            </a:r>
            <a:endParaRPr lang="en-US" sz="2800"/>
          </a:p>
        </p:txBody>
      </p:sp>
      <p:sp>
        <p:nvSpPr>
          <p:cNvPr id="11" name="Equation box"/>
          <p:cNvSpPr/>
          <p:nvPr/>
        </p:nvSpPr>
        <p:spPr>
          <a:xfrm>
            <a:off x="457200" y="1333500"/>
            <a:ext cx="53340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uation"/>
              <p:cNvSpPr txBox="1"/>
              <p:nvPr/>
            </p:nvSpPr>
            <p:spPr>
              <a:xfrm>
                <a:off x="880326" y="1567712"/>
                <a:ext cx="4487749" cy="59837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60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6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sz="276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276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sz="276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76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6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sz="276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760">
                          <a:solidFill>
                            <a:srgbClr val="1B2A3A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760">
                          <a:solidFill>
                            <a:srgbClr val="1B2A3A"/>
                          </a:solidFill>
                          <a:latin typeface="Cambria Math"/>
                        </a:rPr>
                        <m:t>𝜂</m:t>
                      </m:r>
                      <m:r>
                        <a:rPr lang="en-US" sz="2760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760">
                          <a:solidFill>
                            <a:srgbClr val="1B2A3A"/>
                          </a:solidFill>
                          <a:latin typeface="Cambria Math"/>
                        </a:rPr>
                        <m:t>∇</m:t>
                      </m:r>
                      <m:r>
                        <a:rPr lang="en-US" sz="2760">
                          <a:solidFill>
                            <a:srgbClr val="1B2A3A"/>
                          </a:solidFill>
                          <a:latin typeface="Cambria Math"/>
                        </a:rPr>
                        <m:t>ℒ</m:t>
                      </m:r>
                      <m:d>
                        <m:dPr>
                          <m:ctrlPr>
                            <a:rPr lang="en-US" sz="276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760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6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2760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760"/>
              </a:p>
            </p:txBody>
          </p:sp>
        </mc:Choice>
        <mc:Fallback xmlns="">
          <p:sp>
            <p:nvSpPr>
              <p:cNvPr id="12" name="Equation"/>
              <p:cNvSpPr txBox="1"/>
              <p:nvPr/>
            </p:nvSpPr>
            <p:spPr>
              <a:xfrm>
                <a:off x="1254900" y="1654340"/>
                <a:ext cx="3738601" cy="425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3" name="Learning rate"/>
          <p:cNvSpPr txBox="1"/>
          <p:nvPr/>
        </p:nvSpPr>
        <p:spPr>
          <a:xfrm>
            <a:off x="457200" y="25908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100" b="1" i="0">
                <a:solidFill>
                  <a:srgbClr val="9B2C3C"/>
                </a:solidFill>
                <a:latin typeface="Arial"/>
                <a:ea typeface="Arial"/>
                <a:cs typeface="Arial"/>
              </a:rPr>
              <a:t>η &gt; 0: the learning rate</a:t>
            </a:r>
            <a:r>
              <a:rPr sz="210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(step size)</a:t>
            </a:r>
            <a:endParaRPr lang="en-US" sz="2100"/>
          </a:p>
        </p:txBody>
      </p:sp>
      <p:sp>
        <p:nvSpPr>
          <p:cNvPr id="14" name="Points"/>
          <p:cNvSpPr txBox="1"/>
          <p:nvPr/>
        </p:nvSpPr>
        <p:spPr>
          <a:xfrm>
            <a:off x="457200" y="3200400"/>
            <a:ext cx="5334000" cy="289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0502" indent="-210502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θ₀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random (PyTorch does it)</a:t>
            </a:r>
            <a:endParaRPr lang="en-US" sz="1950"/>
          </a:p>
          <a:p>
            <a:pPr marL="210502" indent="-210502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∇ℒ(θ</a:t>
            </a:r>
            <a:r>
              <a:rPr sz="1950" b="1" i="0" baseline="-25000">
                <a:solidFill>
                  <a:srgbClr val="1B2A3A"/>
                </a:solidFill>
                <a:latin typeface="Arial"/>
                <a:ea typeface="Arial"/>
                <a:cs typeface="Arial"/>
              </a:rPr>
              <a:t>k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)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computed exactly by automatic differentiation: loss.backward()</a:t>
            </a:r>
            <a:endParaRPr lang="en-US" sz="1950"/>
          </a:p>
          <a:p>
            <a:pPr marL="210502" indent="-210502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repeat until ℒ stops decreasing</a:t>
            </a:r>
            <a:endParaRPr lang="en-US" sz="1950"/>
          </a:p>
        </p:txBody>
      </p:sp>
      <p:pic>
        <p:nvPicPr>
          <p:cNvPr id="15" name="Gradient descent path" descr="gd_p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57300"/>
            <a:ext cx="5638800" cy="30308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Learning rate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Choosing η: not too small, not too large</a:t>
            </a:r>
            <a:endParaRPr lang="en-US" sz="2800"/>
          </a:p>
        </p:txBody>
      </p:sp>
      <p:sp>
        <p:nvSpPr>
          <p:cNvPr id="11" name="Setting"/>
          <p:cNvSpPr txBox="1"/>
          <p:nvPr/>
        </p:nvSpPr>
        <p:spPr>
          <a:xfrm>
            <a:off x="457200" y="121920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Model problem ℒ(θ) = θ², same start θ₀, 10 steps:</a:t>
            </a:r>
            <a:endParaRPr lang="en-US" sz="1950"/>
          </a:p>
        </p:txBody>
      </p:sp>
      <p:pic>
        <p:nvPicPr>
          <p:cNvPr id="12" name="Four learning rates" descr="eta_f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8300"/>
            <a:ext cx="11277600" cy="3101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510540" y="5126921"/>
                <a:ext cx="4352425" cy="41415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0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sz="184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4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840">
                          <a:solidFill>
                            <a:srgbClr val="1B2A3A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840">
                          <a:solidFill>
                            <a:srgbClr val="1B2A3A"/>
                          </a:solidFill>
                          <a:latin typeface="Cambria Math"/>
                        </a:rPr>
                        <m:t>𝜂</m:t>
                      </m:r>
                      <m:r>
                        <a:rPr lang="en-US" sz="1840">
                          <a:solidFill>
                            <a:srgbClr val="1B2A3A"/>
                          </a:solidFill>
                          <a:latin typeface="Cambria Math"/>
                        </a:rPr>
                        <m:t>⋅2</m:t>
                      </m:r>
                      <m:sSub>
                        <m:sSubPr>
                          <m:ctrlPr>
                            <a:rPr lang="en-US" sz="184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840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84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1−2</m:t>
                          </m:r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𝜂</m:t>
                          </m:r>
                        </m:e>
                      </m:d>
                      <m:r>
                        <a:rPr lang="en-US" sz="1840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sSub>
                        <m:sSubPr>
                          <m:ctrlPr>
                            <a:rPr lang="en-US" sz="1840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1840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840"/>
              </a:p>
            </p:txBody>
          </p:sp>
        </mc:Choice>
        <mc:Fallback xmlns="">
          <p:sp>
            <p:nvSpPr>
              <p:cNvPr id="13" name="Equation"/>
              <p:cNvSpPr txBox="1"/>
              <p:nvPr/>
            </p:nvSpPr>
            <p:spPr>
              <a:xfrm>
                <a:off x="533400" y="5192293"/>
                <a:ext cx="3623920" cy="2834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4" name="Rule"/>
          <p:cNvSpPr txBox="1"/>
          <p:nvPr/>
        </p:nvSpPr>
        <p:spPr>
          <a:xfrm>
            <a:off x="5486400" y="5090160"/>
            <a:ext cx="62484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converges ⟺ 0 &lt; η &lt; 1;  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alternates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sides for η &gt; ½;  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diverges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for η &gt; 1</a:t>
            </a:r>
            <a:endParaRPr lang="en-US" sz="1950"/>
          </a:p>
        </p:txBody>
      </p:sp>
      <p:sp>
        <p:nvSpPr>
          <p:cNvPr id="15" name="Message box"/>
          <p:cNvSpPr/>
          <p:nvPr/>
        </p:nvSpPr>
        <p:spPr>
          <a:xfrm>
            <a:off x="457200" y="5753100"/>
            <a:ext cx="11277600" cy="563880"/>
          </a:xfrm>
          <a:prstGeom prst="roundRect">
            <a:avLst>
              <a:gd name="adj" fmla="val 10810"/>
            </a:avLst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Message"/>
          <p:cNvSpPr txBox="1"/>
          <p:nvPr/>
        </p:nvSpPr>
        <p:spPr>
          <a:xfrm>
            <a:off x="655320" y="5753100"/>
            <a:ext cx="10881360" cy="563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8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 small: slow.  Too large: oscillation, then divergence.</a:t>
            </a:r>
            <a:endParaRPr lang="en-US" sz="18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Learning rate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Even a good η is too large near the minimum</a:t>
            </a:r>
            <a:endParaRPr lang="en-US" sz="2800"/>
          </a:p>
        </p:txBody>
      </p:sp>
      <p:pic>
        <p:nvPicPr>
          <p:cNvPr id="11" name="Zoom near the minimum" descr="eta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9200"/>
            <a:ext cx="11277600" cy="4457068"/>
          </a:xfrm>
          <a:prstGeom prst="rect">
            <a:avLst/>
          </a:prstGeom>
        </p:spPr>
      </p:pic>
      <p:sp>
        <p:nvSpPr>
          <p:cNvPr id="12" name="Message box"/>
          <p:cNvSpPr/>
          <p:nvPr/>
        </p:nvSpPr>
        <p:spPr>
          <a:xfrm>
            <a:off x="457200" y="5638800"/>
            <a:ext cx="11277600" cy="609600"/>
          </a:xfrm>
          <a:prstGeom prst="roundRect">
            <a:avLst>
              <a:gd name="adj" fmla="val 10000"/>
            </a:avLst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Message"/>
          <p:cNvSpPr txBox="1"/>
          <p:nvPr/>
        </p:nvSpPr>
        <p:spPr>
          <a:xfrm>
            <a:off x="655320" y="5638800"/>
            <a:ext cx="1088136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8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Near θ*, the steps must shrink: </a:t>
            </a:r>
            <a:r>
              <a:rPr sz="18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decrease η during training</a:t>
            </a:r>
            <a:r>
              <a:rPr sz="18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(learning-rate scheduler).</a:t>
            </a:r>
            <a:endParaRPr lang="en-US" sz="18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LR schedulers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Learning-rate schedulers: large steps, then small steps</a:t>
            </a:r>
            <a:endParaRPr lang="en-US" sz="2800"/>
          </a:p>
        </p:txBody>
      </p:sp>
      <p:sp>
        <p:nvSpPr>
          <p:cNvPr id="11" name="Card"/>
          <p:cNvSpPr/>
          <p:nvPr/>
        </p:nvSpPr>
        <p:spPr>
          <a:xfrm>
            <a:off x="457200" y="1257300"/>
            <a:ext cx="5334000" cy="42672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Scheduler step decay"/>
          <p:cNvSpPr txBox="1"/>
          <p:nvPr/>
        </p:nvSpPr>
        <p:spPr>
          <a:xfrm>
            <a:off x="647700" y="1371600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1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step decay</a:t>
            </a:r>
            <a:endParaRPr lang="en-US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 step decay"/>
              <p:cNvSpPr txBox="1"/>
              <p:nvPr/>
            </p:nvSpPr>
            <p:spPr>
              <a:xfrm>
                <a:off x="701040" y="1777884"/>
                <a:ext cx="1817776" cy="43711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48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748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74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748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sSup>
                        <m:sSupPr>
                          <m:ctrlPr>
                            <a:rPr lang="en-US" sz="174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⌊</m:t>
                          </m:r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⌋</m:t>
                          </m:r>
                        </m:sup>
                      </m:sSup>
                    </m:oMath>
                  </m:oMathPara>
                </a14:m>
                <a:endParaRPr lang="en-US" sz="1748"/>
              </a:p>
            </p:txBody>
          </p:sp>
        </mc:Choice>
        <mc:Fallback xmlns="">
          <p:sp>
            <p:nvSpPr>
              <p:cNvPr id="13" name="Equation step decay"/>
              <p:cNvSpPr txBox="1"/>
              <p:nvPr/>
            </p:nvSpPr>
            <p:spPr>
              <a:xfrm>
                <a:off x="723900" y="1845905"/>
                <a:ext cx="1475911" cy="3010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4" name="PyTorch step decay"/>
          <p:cNvSpPr txBox="1"/>
          <p:nvPr/>
        </p:nvSpPr>
        <p:spPr>
          <a:xfrm>
            <a:off x="647700" y="2324100"/>
            <a:ext cx="49530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00" b="0" i="0">
                <a:solidFill>
                  <a:srgbClr val="6B7480"/>
                </a:solidFill>
                <a:latin typeface="Consolas"/>
                <a:ea typeface="Consolas"/>
                <a:cs typeface="Consolas"/>
              </a:rPr>
              <a:t>StepLR(opt, step_size=s, gamma=γ)</a:t>
            </a:r>
            <a:endParaRPr lang="en-US" sz="1400"/>
          </a:p>
        </p:txBody>
      </p:sp>
      <p:cxnSp>
        <p:nvCxnSpPr>
          <p:cNvPr id="15" name="Separator"/>
          <p:cNvCxnSpPr/>
          <p:nvPr/>
        </p:nvCxnSpPr>
        <p:spPr>
          <a:xfrm>
            <a:off x="464820" y="2727960"/>
            <a:ext cx="5318760" cy="0"/>
          </a:xfrm>
          <a:prstGeom prst="line">
            <a:avLst/>
          </a:prstGeom>
          <a:ln w="9525">
            <a:solidFill>
              <a:srgbClr val="E1E0DB"/>
            </a:solidFill>
          </a:ln>
        </p:spPr>
      </p:cxnSp>
      <p:sp>
        <p:nvSpPr>
          <p:cNvPr id="16" name="Scheduler exponential"/>
          <p:cNvSpPr txBox="1"/>
          <p:nvPr/>
        </p:nvSpPr>
        <p:spPr>
          <a:xfrm>
            <a:off x="647700" y="2758440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1" i="0">
                <a:solidFill>
                  <a:srgbClr val="2E7D6B"/>
                </a:solidFill>
                <a:latin typeface="Arial"/>
                <a:ea typeface="Arial"/>
                <a:cs typeface="Arial"/>
              </a:rPr>
              <a:t>exponential</a:t>
            </a:r>
            <a:endParaRPr lang="en-US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quation exponential"/>
              <p:cNvSpPr txBox="1"/>
              <p:nvPr/>
            </p:nvSpPr>
            <p:spPr>
              <a:xfrm>
                <a:off x="701040" y="3170810"/>
                <a:ext cx="1386460" cy="4249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48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748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74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748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sSup>
                        <m:sSupPr>
                          <m:ctrlPr>
                            <a:rPr lang="en-US" sz="174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1748"/>
              </a:p>
            </p:txBody>
          </p:sp>
        </mc:Choice>
        <mc:Fallback xmlns="">
          <p:sp>
            <p:nvSpPr>
              <p:cNvPr id="17" name="Equation exponential"/>
              <p:cNvSpPr txBox="1"/>
              <p:nvPr/>
            </p:nvSpPr>
            <p:spPr>
              <a:xfrm>
                <a:off x="723900" y="3237426"/>
                <a:ext cx="1110390" cy="2917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8" name="PyTorch exponential"/>
          <p:cNvSpPr txBox="1"/>
          <p:nvPr/>
        </p:nvSpPr>
        <p:spPr>
          <a:xfrm>
            <a:off x="647700" y="3710940"/>
            <a:ext cx="49530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00" b="0" i="0">
                <a:solidFill>
                  <a:srgbClr val="6B7480"/>
                </a:solidFill>
                <a:latin typeface="Consolas"/>
                <a:ea typeface="Consolas"/>
                <a:cs typeface="Consolas"/>
              </a:rPr>
              <a:t>ExponentialLR(opt, gamma=γ)</a:t>
            </a:r>
            <a:endParaRPr lang="en-US" sz="1400"/>
          </a:p>
        </p:txBody>
      </p:sp>
      <p:cxnSp>
        <p:nvCxnSpPr>
          <p:cNvPr id="19" name="Separator"/>
          <p:cNvCxnSpPr/>
          <p:nvPr/>
        </p:nvCxnSpPr>
        <p:spPr>
          <a:xfrm>
            <a:off x="464820" y="4114800"/>
            <a:ext cx="5318760" cy="0"/>
          </a:xfrm>
          <a:prstGeom prst="line">
            <a:avLst/>
          </a:prstGeom>
          <a:ln w="9525">
            <a:solidFill>
              <a:srgbClr val="E1E0DB"/>
            </a:solidFill>
          </a:ln>
        </p:spPr>
      </p:cxnSp>
      <p:sp>
        <p:nvSpPr>
          <p:cNvPr id="20" name="Scheduler cosine"/>
          <p:cNvSpPr txBox="1"/>
          <p:nvPr/>
        </p:nvSpPr>
        <p:spPr>
          <a:xfrm>
            <a:off x="647700" y="4145280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1" i="0">
                <a:solidFill>
                  <a:srgbClr val="9B2C3C"/>
                </a:solidFill>
                <a:latin typeface="Arial"/>
                <a:ea typeface="Arial"/>
                <a:cs typeface="Arial"/>
              </a:rPr>
              <a:t>cosine</a:t>
            </a:r>
            <a:endParaRPr lang="en-US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quation cosine"/>
              <p:cNvSpPr txBox="1"/>
              <p:nvPr/>
            </p:nvSpPr>
            <p:spPr>
              <a:xfrm>
                <a:off x="701040" y="4353485"/>
                <a:ext cx="3042530" cy="83327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48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748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174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1748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sSub>
                        <m:sSubPr>
                          <m:ctrlPr>
                            <a:rPr lang="en-US" sz="174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174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174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cos</m:t>
                          </m:r>
                          <m:f>
                            <m:fPr>
                              <m:ctrlPr>
                                <a:rPr lang="en-US" sz="1748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48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𝜋</m:t>
                              </m:r>
                              <m:r>
                                <a:rPr lang="en-US" sz="1748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sz="1748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748"/>
              </a:p>
            </p:txBody>
          </p:sp>
        </mc:Choice>
        <mc:Fallback xmlns="">
          <p:sp>
            <p:nvSpPr>
              <p:cNvPr id="21" name="Equation cosine"/>
              <p:cNvSpPr txBox="1"/>
              <p:nvPr/>
            </p:nvSpPr>
            <p:spPr>
              <a:xfrm>
                <a:off x="723900" y="4467216"/>
                <a:ext cx="2513839" cy="6058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22" name="PyTorch cosine"/>
          <p:cNvSpPr txBox="1"/>
          <p:nvPr/>
        </p:nvSpPr>
        <p:spPr>
          <a:xfrm>
            <a:off x="647700" y="5097780"/>
            <a:ext cx="49530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00" b="0" i="0">
                <a:solidFill>
                  <a:srgbClr val="6B7480"/>
                </a:solidFill>
                <a:latin typeface="Consolas"/>
                <a:ea typeface="Consolas"/>
                <a:cs typeface="Consolas"/>
              </a:rPr>
              <a:t>CosineAnnealingLR(opt, T_max=K)</a:t>
            </a:r>
            <a:endParaRPr lang="en-US" sz="1400"/>
          </a:p>
        </p:txBody>
      </p:sp>
      <p:graphicFrame>
        <p:nvGraphicFramePr>
          <p:cNvPr id="23" name="Schedulers chart"/>
          <p:cNvGraphicFramePr>
            <a:graphicFrameLocks noGrp="1"/>
          </p:cNvGraphicFramePr>
          <p:nvPr/>
        </p:nvGraphicFramePr>
        <p:xfrm>
          <a:off x="6019800" y="1257300"/>
          <a:ext cx="5715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Usage"/>
          <p:cNvSpPr txBox="1"/>
          <p:nvPr/>
        </p:nvSpPr>
        <p:spPr>
          <a:xfrm>
            <a:off x="457200" y="569976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In PyTorch: </a:t>
            </a:r>
            <a:r>
              <a:rPr sz="1950" b="1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scheduler.step()</a:t>
            </a:r>
            <a:r>
              <a:rPr sz="19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 once per epoch, after the optimizer steps.</a:t>
            </a:r>
            <a:endParaRPr lang="en-US" sz="19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Adam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IV.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Adam: the default optimizer </a:t>
            </a:r>
            <a:r>
              <a:rPr sz="2800" b="1" i="0">
                <a:solidFill>
                  <a:srgbClr val="2F5D8C"/>
                </a:solidFill>
                <a:latin typeface="Times New Roman"/>
                <a:ea typeface="Times New Roman"/>
                <a:cs typeface="Times New Roman"/>
              </a:rPr>
              <a:t>[14]</a:t>
            </a:r>
            <a:endParaRPr lang="en-US" sz="2800"/>
          </a:p>
        </p:txBody>
      </p:sp>
      <p:sp>
        <p:nvSpPr>
          <p:cNvPr id="11" name="Algorithm box"/>
          <p:cNvSpPr/>
          <p:nvPr/>
        </p:nvSpPr>
        <p:spPr>
          <a:xfrm>
            <a:off x="457200" y="1219200"/>
            <a:ext cx="6096000" cy="358140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uation"/>
              <p:cNvSpPr txBox="1"/>
              <p:nvPr/>
            </p:nvSpPr>
            <p:spPr>
              <a:xfrm>
                <a:off x="662940" y="1420754"/>
                <a:ext cx="1819511" cy="35889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64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𝒈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∇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ℒ</m:t>
                      </m:r>
                      <m:d>
                        <m:d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564"/>
              </a:p>
            </p:txBody>
          </p:sp>
        </mc:Choice>
        <mc:Fallback xmlns="">
          <p:sp>
            <p:nvSpPr>
              <p:cNvPr id="12" name="Equation"/>
              <p:cNvSpPr txBox="1"/>
              <p:nvPr/>
            </p:nvSpPr>
            <p:spPr>
              <a:xfrm>
                <a:off x="685800" y="1479749"/>
                <a:ext cx="1477382" cy="2409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3" name="Comment"/>
          <p:cNvSpPr txBox="1"/>
          <p:nvPr/>
        </p:nvSpPr>
        <p:spPr>
          <a:xfrm>
            <a:off x="4152900" y="1371600"/>
            <a:ext cx="23241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00" b="0" i="0">
                <a:solidFill>
                  <a:srgbClr val="6B7480"/>
                </a:solidFill>
                <a:latin typeface="Arial"/>
                <a:ea typeface="Arial"/>
                <a:cs typeface="Arial"/>
              </a:rPr>
              <a:t>gradient</a:t>
            </a:r>
            <a:endParaRPr lang="en-US" sz="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"/>
              <p:cNvSpPr txBox="1"/>
              <p:nvPr/>
            </p:nvSpPr>
            <p:spPr>
              <a:xfrm>
                <a:off x="662940" y="2030354"/>
                <a:ext cx="3286074" cy="35889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64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𝒎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sSub>
                        <m:sSub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𝒎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sSub>
                        <m:sSub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𝒈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564"/>
              </a:p>
            </p:txBody>
          </p:sp>
        </mc:Choice>
        <mc:Fallback xmlns="">
          <p:sp>
            <p:nvSpPr>
              <p:cNvPr id="14" name="Equation"/>
              <p:cNvSpPr txBox="1"/>
              <p:nvPr/>
            </p:nvSpPr>
            <p:spPr>
              <a:xfrm>
                <a:off x="685800" y="2089349"/>
                <a:ext cx="2720232" cy="2409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5" name="Comment"/>
          <p:cNvSpPr txBox="1"/>
          <p:nvPr/>
        </p:nvSpPr>
        <p:spPr>
          <a:xfrm>
            <a:off x="4152900" y="1981200"/>
            <a:ext cx="23241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00" b="0" i="0">
                <a:solidFill>
                  <a:srgbClr val="6B7480"/>
                </a:solidFill>
                <a:latin typeface="Arial"/>
                <a:ea typeface="Arial"/>
                <a:cs typeface="Arial"/>
              </a:rPr>
              <a:t>average of the gradients</a:t>
            </a:r>
            <a:endParaRPr lang="en-US" sz="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uation"/>
              <p:cNvSpPr txBox="1"/>
              <p:nvPr/>
            </p:nvSpPr>
            <p:spPr>
              <a:xfrm>
                <a:off x="662940" y="2624012"/>
                <a:ext cx="3049655" cy="39077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64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sSub>
                        <m:sSub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sSubSup>
                        <m:sSubSup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𝒈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564"/>
              </a:p>
            </p:txBody>
          </p:sp>
        </mc:Choice>
        <mc:Fallback xmlns="">
          <p:sp>
            <p:nvSpPr>
              <p:cNvPr id="16" name="Equation"/>
              <p:cNvSpPr txBox="1"/>
              <p:nvPr/>
            </p:nvSpPr>
            <p:spPr>
              <a:xfrm>
                <a:off x="685800" y="2686686"/>
                <a:ext cx="2519877" cy="2654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7" name="Comment"/>
          <p:cNvSpPr txBox="1"/>
          <p:nvPr/>
        </p:nvSpPr>
        <p:spPr>
          <a:xfrm>
            <a:off x="4152900" y="2590800"/>
            <a:ext cx="23241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00" b="0" i="0">
                <a:solidFill>
                  <a:srgbClr val="6B7480"/>
                </a:solidFill>
                <a:latin typeface="Arial"/>
                <a:ea typeface="Arial"/>
                <a:cs typeface="Arial"/>
              </a:rPr>
              <a:t>average of their squares</a:t>
            </a:r>
            <a:endParaRPr lang="en-US" sz="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Equation"/>
              <p:cNvSpPr txBox="1"/>
              <p:nvPr/>
            </p:nvSpPr>
            <p:spPr>
              <a:xfrm>
                <a:off x="662940" y="3180029"/>
                <a:ext cx="2697141" cy="72654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64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𝜂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f>
                        <m:f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564" i="1">
                                      <a:solidFill>
                                        <a:srgbClr val="1B2A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564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𝜀</m:t>
                          </m:r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1564" i="1">
                                      <a:solidFill>
                                        <a:srgbClr val="1B2A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564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564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𝒗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564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sz="1564"/>
              </a:p>
            </p:txBody>
          </p:sp>
        </mc:Choice>
        <mc:Fallback xmlns="">
          <p:sp>
            <p:nvSpPr>
              <p:cNvPr id="18" name="Equation"/>
              <p:cNvSpPr txBox="1"/>
              <p:nvPr/>
            </p:nvSpPr>
            <p:spPr>
              <a:xfrm>
                <a:off x="685800" y="3281446"/>
                <a:ext cx="2221136" cy="5237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9" name="Comment"/>
          <p:cNvSpPr txBox="1"/>
          <p:nvPr/>
        </p:nvSpPr>
        <p:spPr>
          <a:xfrm>
            <a:off x="4152900" y="3314700"/>
            <a:ext cx="23241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00" b="0" i="0">
                <a:solidFill>
                  <a:srgbClr val="6B7480"/>
                </a:solidFill>
                <a:latin typeface="Arial"/>
                <a:ea typeface="Arial"/>
                <a:cs typeface="Arial"/>
              </a:rPr>
              <a:t>step per parameter</a:t>
            </a:r>
            <a:endParaRPr lang="en-US" sz="1500"/>
          </a:p>
        </p:txBody>
      </p:sp>
      <p:sp>
        <p:nvSpPr>
          <p:cNvPr id="20" name="Defaults"/>
          <p:cNvSpPr txBox="1"/>
          <p:nvPr/>
        </p:nvSpPr>
        <p:spPr>
          <a:xfrm>
            <a:off x="685800" y="4152900"/>
            <a:ext cx="57912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00" b="0" i="0">
                <a:solidFill>
                  <a:srgbClr val="6B7480"/>
                </a:solidFill>
                <a:latin typeface="Arial"/>
                <a:ea typeface="Arial"/>
                <a:cs typeface="Arial"/>
              </a:rPr>
              <a:t>m̂, v̂: m, v divided by (1 − β</a:t>
            </a:r>
            <a:r>
              <a:rPr sz="1500" b="0" i="0" baseline="30000">
                <a:solidFill>
                  <a:srgbClr val="6B7480"/>
                </a:solidFill>
                <a:latin typeface="Arial"/>
                <a:ea typeface="Arial"/>
                <a:cs typeface="Arial"/>
              </a:rPr>
              <a:t>k</a:t>
            </a:r>
            <a:r>
              <a:rPr sz="1500" b="0" i="0">
                <a:solidFill>
                  <a:srgbClr val="6B7480"/>
                </a:solidFill>
                <a:latin typeface="Arial"/>
                <a:ea typeface="Arial"/>
                <a:cs typeface="Arial"/>
              </a:rPr>
              <a:t>) (bias correction).  β₁ = 0.9, β₂ = 0.999, ε = 10⁻⁸</a:t>
            </a:r>
            <a:endParaRPr lang="en-US" sz="1500"/>
          </a:p>
        </p:txBody>
      </p:sp>
      <p:pic>
        <p:nvPicPr>
          <p:cNvPr id="21" name="GD vs Adam paths" descr="gd_vs_ad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1219200"/>
            <a:ext cx="5029200" cy="2634343"/>
          </a:xfrm>
          <a:prstGeom prst="rect">
            <a:avLst/>
          </a:prstGeom>
        </p:spPr>
      </p:pic>
      <p:sp>
        <p:nvSpPr>
          <p:cNvPr id="22" name="Message box"/>
          <p:cNvSpPr/>
          <p:nvPr/>
        </p:nvSpPr>
        <p:spPr>
          <a:xfrm>
            <a:off x="457200" y="5067300"/>
            <a:ext cx="11277600" cy="609600"/>
          </a:xfrm>
          <a:prstGeom prst="roundRect">
            <a:avLst>
              <a:gd name="adj" fmla="val 10000"/>
            </a:avLst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Message"/>
          <p:cNvSpPr txBox="1"/>
          <p:nvPr/>
        </p:nvSpPr>
        <p:spPr>
          <a:xfrm>
            <a:off x="655320" y="5067300"/>
            <a:ext cx="1088136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8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rules for η: not too small, not too large, decrease it near the minimum.  Default: η = 10⁻³.</a:t>
            </a:r>
            <a:endParaRPr lang="en-US" sz="1850"/>
          </a:p>
        </p:txBody>
      </p:sp>
      <p:sp>
        <p:nvSpPr>
          <p:cNvPr id="24" name="Reference"/>
          <p:cNvSpPr txBox="1"/>
          <p:nvPr/>
        </p:nvSpPr>
        <p:spPr>
          <a:xfrm>
            <a:off x="457200" y="6248400"/>
            <a:ext cx="1127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[14] D. P. Kingma, J. Ba, Adam: a method for stochastic optimization, ICLR, 2015.  PyTorch: torch.optim.Adam(model.parameters(), lr=η)</a:t>
            </a:r>
            <a:endParaRPr lang="en-US"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Overfitting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Overfitting: watch the validation loss</a:t>
            </a:r>
            <a:endParaRPr lang="en-US" sz="2800"/>
          </a:p>
        </p:txBody>
      </p:sp>
      <p:pic>
        <p:nvPicPr>
          <p:cNvPr id="11" name="Overfitting" descr="overfi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143000"/>
            <a:ext cx="8914986" cy="4343400"/>
          </a:xfrm>
          <a:prstGeom prst="rect">
            <a:avLst/>
          </a:prstGeom>
        </p:spPr>
      </p:pic>
      <p:sp>
        <p:nvSpPr>
          <p:cNvPr id="12" name="Card accent"/>
          <p:cNvSpPr/>
          <p:nvPr/>
        </p:nvSpPr>
        <p:spPr>
          <a:xfrm>
            <a:off x="457200" y="5600700"/>
            <a:ext cx="3657600" cy="685800"/>
          </a:xfrm>
          <a:prstGeom prst="roundRect">
            <a:avLst>
              <a:gd name="adj" fmla="val 7777"/>
            </a:avLst>
          </a:prstGeom>
          <a:solidFill>
            <a:srgbClr val="2F5D8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Card"/>
          <p:cNvSpPr/>
          <p:nvPr/>
        </p:nvSpPr>
        <p:spPr>
          <a:xfrm>
            <a:off x="457200" y="5638800"/>
            <a:ext cx="3657600" cy="64770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Point"/>
          <p:cNvSpPr txBox="1"/>
          <p:nvPr/>
        </p:nvSpPr>
        <p:spPr>
          <a:xfrm>
            <a:off x="609600" y="5638800"/>
            <a:ext cx="3390900" cy="647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85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Training loss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always goes down</a:t>
            </a:r>
            <a:endParaRPr lang="en-US" sz="1850"/>
          </a:p>
        </p:txBody>
      </p:sp>
      <p:sp>
        <p:nvSpPr>
          <p:cNvPr id="15" name="Card accent"/>
          <p:cNvSpPr/>
          <p:nvPr/>
        </p:nvSpPr>
        <p:spPr>
          <a:xfrm>
            <a:off x="4267200" y="5600700"/>
            <a:ext cx="3657600" cy="685800"/>
          </a:xfrm>
          <a:prstGeom prst="roundRect">
            <a:avLst>
              <a:gd name="adj" fmla="val 7777"/>
            </a:avLst>
          </a:prstGeom>
          <a:solidFill>
            <a:srgbClr val="9B2C3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Card"/>
          <p:cNvSpPr/>
          <p:nvPr/>
        </p:nvSpPr>
        <p:spPr>
          <a:xfrm>
            <a:off x="4267200" y="5638800"/>
            <a:ext cx="3657600" cy="64770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Point"/>
          <p:cNvSpPr txBox="1"/>
          <p:nvPr/>
        </p:nvSpPr>
        <p:spPr>
          <a:xfrm>
            <a:off x="4419600" y="5638800"/>
            <a:ext cx="3390900" cy="647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850" b="0" i="0">
                <a:solidFill>
                  <a:srgbClr val="9B2C3C"/>
                </a:solidFill>
                <a:latin typeface="Arial"/>
                <a:ea typeface="Arial"/>
                <a:cs typeface="Arial"/>
              </a:rPr>
              <a:t>Validation loss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goes up: </a:t>
            </a:r>
            <a:r>
              <a:rPr sz="18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overfitting</a:t>
            </a:r>
            <a:endParaRPr lang="en-US" sz="1850"/>
          </a:p>
        </p:txBody>
      </p:sp>
      <p:sp>
        <p:nvSpPr>
          <p:cNvPr id="18" name="Card accent"/>
          <p:cNvSpPr/>
          <p:nvPr/>
        </p:nvSpPr>
        <p:spPr>
          <a:xfrm>
            <a:off x="8077200" y="5600700"/>
            <a:ext cx="3657600" cy="685800"/>
          </a:xfrm>
          <a:prstGeom prst="roundRect">
            <a:avLst>
              <a:gd name="adj" fmla="val 7777"/>
            </a:avLst>
          </a:prstGeom>
          <a:solidFill>
            <a:srgbClr val="2E7D6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Card"/>
          <p:cNvSpPr/>
          <p:nvPr/>
        </p:nvSpPr>
        <p:spPr>
          <a:xfrm>
            <a:off x="8077200" y="5638800"/>
            <a:ext cx="3657600" cy="64770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Point"/>
          <p:cNvSpPr txBox="1"/>
          <p:nvPr/>
        </p:nvSpPr>
        <p:spPr>
          <a:xfrm>
            <a:off x="8229600" y="5638800"/>
            <a:ext cx="3390900" cy="647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850" b="0" i="0">
                <a:solidFill>
                  <a:srgbClr val="2E7D6B"/>
                </a:solidFill>
                <a:latin typeface="Arial"/>
                <a:ea typeface="Arial"/>
                <a:cs typeface="Arial"/>
              </a:rPr>
              <a:t>Early stopping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keep θ at the lowest validation loss</a:t>
            </a:r>
            <a:endParaRPr lang="en-US" sz="18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Hyperparameters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Hyperparameters: the validation set decides</a:t>
            </a:r>
            <a:endParaRPr lang="en-US" sz="2800"/>
          </a:p>
        </p:txBody>
      </p:sp>
      <p:pic>
        <p:nvPicPr>
          <p:cNvPr id="11" name="Validation curve" descr="s19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6850856" cy="4267200"/>
          </a:xfrm>
          <a:prstGeom prst="rect">
            <a:avLst/>
          </a:prstGeom>
        </p:spPr>
      </p:pic>
      <p:sp>
        <p:nvSpPr>
          <p:cNvPr id="12" name="Points"/>
          <p:cNvSpPr txBox="1"/>
          <p:nvPr/>
        </p:nvSpPr>
        <p:spPr>
          <a:xfrm>
            <a:off x="7543800" y="1524000"/>
            <a:ext cx="4191000" cy="426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0502" indent="-210502" algn="l">
              <a:lnSpc>
                <a:spcPct val="105000"/>
              </a:lnSpc>
              <a:spcAft>
                <a:spcPts val="2200"/>
              </a:spcAft>
              <a:buFont typeface="Arial"/>
              <a:buChar char="•"/>
            </a:pP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Hyperparameter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chosen before training (width, depth, σ, η, batch size…)</a:t>
            </a:r>
            <a:endParaRPr lang="en-US" sz="1950"/>
          </a:p>
          <a:p>
            <a:pPr marL="210502" indent="-210502" algn="l">
              <a:lnSpc>
                <a:spcPct val="105000"/>
              </a:lnSpc>
              <a:spcAft>
                <a:spcPts val="2200"/>
              </a:spcAft>
              <a:buFont typeface="Arial"/>
              <a:buChar char="•"/>
            </a:pP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Training error always prefers the 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largest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network</a:t>
            </a:r>
            <a:endParaRPr lang="en-US" sz="1950"/>
          </a:p>
          <a:p>
            <a:pPr marL="210502" indent="-210502" algn="l">
              <a:lnSpc>
                <a:spcPct val="105000"/>
              </a:lnSpc>
              <a:spcAft>
                <a:spcPts val="2200"/>
              </a:spcAft>
              <a:buFont typeface="Arial"/>
              <a:buChar char="•"/>
            </a:pP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Choose the 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smallest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network with a good </a:t>
            </a: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validation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error (here H = 8)</a:t>
            </a:r>
            <a:endParaRPr lang="en-US" sz="1950"/>
          </a:p>
          <a:p>
            <a:pPr marL="210502" indent="-210502" algn="l">
              <a:lnSpc>
                <a:spcPct val="105000"/>
              </a:lnSpc>
              <a:spcAft>
                <a:spcPts val="2200"/>
              </a:spcAft>
              <a:buFont typeface="Arial"/>
              <a:buChar char="•"/>
            </a:pPr>
            <a:r>
              <a:rPr sz="19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Test</a:t>
            </a:r>
            <a:r>
              <a:rPr sz="19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error: once, at the end</a:t>
            </a:r>
            <a:endParaRPr lang="en-US" sz="19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Mini-batches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Mini-batches: update θ after each small packet</a:t>
            </a:r>
            <a:endParaRPr lang="en-US" sz="2800"/>
          </a:p>
        </p:txBody>
      </p:sp>
      <p:pic>
        <p:nvPicPr>
          <p:cNvPr id="11" name="Mini-batch animation" descr="minibatch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11277600" cy="4229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uation"/>
              <p:cNvSpPr txBox="1"/>
              <p:nvPr/>
            </p:nvSpPr>
            <p:spPr>
              <a:xfrm>
                <a:off x="510540" y="5346257"/>
                <a:ext cx="7036130" cy="81368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18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batch</m:t>
                          </m:r>
                        </m:sub>
                      </m:sSub>
                      <m:d>
                        <m:dPr>
                          <m:ctrlPr>
                            <a:rPr lang="en-US" sz="151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</m:d>
                      <m:r>
                        <a:rPr lang="en-US" sz="1518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51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51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batch</m:t>
                          </m:r>
                        </m:sub>
                        <m:sup>
                          <m: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lang="en-US" sz="1518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∥"/>
                                  <m:endChr m:val="∥"/>
                                  <m:ctrlPr>
                                    <a:rPr lang="en-US" sz="1518" i="1">
                                      <a:solidFill>
                                        <a:srgbClr val="1B2A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518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518" i="1">
                                              <a:solidFill>
                                                <a:srgbClr val="1B2A3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518">
                                              <a:solidFill>
                                                <a:srgbClr val="1B2A3A"/>
                                              </a:solidFill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518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518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18" i="1">
                                              <a:solidFill>
                                                <a:srgbClr val="1B2A3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18">
                                              <a:solidFill>
                                                <a:srgbClr val="1B2A3A"/>
                                              </a:solidFill>
                                              <a:latin typeface="Cambria Math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518">
                                              <a:solidFill>
                                                <a:srgbClr val="1B2A3A"/>
                                              </a:solidFill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518">
                                      <a:solidFill>
                                        <a:srgbClr val="1B2A3A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518" i="1">
                                          <a:solidFill>
                                            <a:srgbClr val="1B2A3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18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518">
                                          <a:solidFill>
                                            <a:srgbClr val="1B2A3A"/>
                                          </a:solidFill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518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518">
                          <a:solidFill>
                            <a:srgbClr val="1B2A3A"/>
                          </a:solidFill>
                          <a:latin typeface="Cambria Math"/>
                        </a:rPr>
                        <m:t>,  </m:t>
                      </m:r>
                      <m:r>
                        <a:rPr lang="en-US" sz="1518">
                          <a:solidFill>
                            <a:srgbClr val="1B2A3A"/>
                          </a:solidFill>
                          <a:latin typeface="Cambria Math"/>
                        </a:rPr>
                        <m:t>𝜽</m:t>
                      </m:r>
                      <m:r>
                        <a:rPr lang="en-US" sz="1518">
                          <a:solidFill>
                            <a:srgbClr val="1B2A3A"/>
                          </a:solidFill>
                          <a:latin typeface="Cambria Math"/>
                        </a:rPr>
                        <m:t>←</m:t>
                      </m:r>
                      <m:r>
                        <a:rPr lang="en-US" sz="1518">
                          <a:solidFill>
                            <a:srgbClr val="1B2A3A"/>
                          </a:solidFill>
                          <a:latin typeface="Cambria Math"/>
                        </a:rPr>
                        <m:t>𝜽</m:t>
                      </m:r>
                      <m:r>
                        <a:rPr lang="en-US" sz="1518">
                          <a:solidFill>
                            <a:srgbClr val="1B2A3A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18">
                          <a:solidFill>
                            <a:srgbClr val="1B2A3A"/>
                          </a:solidFill>
                          <a:latin typeface="Cambria Math"/>
                        </a:rPr>
                        <m:t>𝜂</m:t>
                      </m:r>
                      <m:r>
                        <a:rPr lang="en-US" sz="1518">
                          <a:solidFill>
                            <a:srgbClr val="1B2A3A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1518">
                          <a:solidFill>
                            <a:srgbClr val="1B2A3A"/>
                          </a:solidFill>
                          <a:latin typeface="Cambria Math"/>
                        </a:rPr>
                        <m:t>∇</m:t>
                      </m:r>
                      <m:sSub>
                        <m:sSubPr>
                          <m:ctrlPr>
                            <a:rPr lang="en-US" sz="151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batch</m:t>
                          </m:r>
                        </m:sub>
                      </m:sSub>
                      <m:d>
                        <m:dPr>
                          <m:ctrlPr>
                            <a:rPr lang="en-US" sz="1518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18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sz="1518"/>
              </a:p>
            </p:txBody>
          </p:sp>
        </mc:Choice>
        <mc:Fallback xmlns="">
          <p:sp>
            <p:nvSpPr>
              <p:cNvPr id="12" name="Equation"/>
              <p:cNvSpPr txBox="1"/>
              <p:nvPr/>
            </p:nvSpPr>
            <p:spPr>
              <a:xfrm>
                <a:off x="533400" y="5457729"/>
                <a:ext cx="5898246" cy="5907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3" name="Epoch"/>
          <p:cNvSpPr txBox="1"/>
          <p:nvPr/>
        </p:nvSpPr>
        <p:spPr>
          <a:xfrm>
            <a:off x="7696200" y="5334000"/>
            <a:ext cx="4038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1 epoch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= one pass = </a:t>
            </a:r>
            <a:r>
              <a:rPr sz="18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N / B updates</a:t>
            </a:r>
            <a:endParaRPr lang="en-US" sz="1850"/>
          </a:p>
          <a:p>
            <a:pPr algn="l">
              <a:buNone/>
            </a:pPr>
            <a:r>
              <a:rPr sz="18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noisier steps, but many more of them</a:t>
            </a:r>
            <a:endParaRPr lang="en-US" sz="18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Adam, then L-BFGS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For PINNs: Adam first, then L-BFGS</a:t>
            </a:r>
            <a:endParaRPr lang="en-US" sz="2800"/>
          </a:p>
        </p:txBody>
      </p:sp>
      <p:pic>
        <p:nvPicPr>
          <p:cNvPr id="11" name="GD, Adam, L-BFGS" descr="gd_adam_lbf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57300"/>
            <a:ext cx="8305800" cy="4228407"/>
          </a:xfrm>
          <a:prstGeom prst="rect">
            <a:avLst/>
          </a:prstGeom>
        </p:spPr>
      </p:pic>
      <p:sp>
        <p:nvSpPr>
          <p:cNvPr id="12" name="Points"/>
          <p:cNvSpPr txBox="1"/>
          <p:nvPr/>
        </p:nvSpPr>
        <p:spPr>
          <a:xfrm>
            <a:off x="8915400" y="1447800"/>
            <a:ext cx="2895600" cy="426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99707" indent="-199707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8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L-BFGS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also uses the </a:t>
            </a:r>
            <a:r>
              <a:rPr sz="18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curvature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, estimated from the last gradients</a:t>
            </a:r>
            <a:endParaRPr lang="en-US" sz="1850"/>
          </a:p>
          <a:p>
            <a:pPr marL="199707" indent="-199707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no η to tune: line search</a:t>
            </a:r>
            <a:endParaRPr lang="en-US" sz="1850"/>
          </a:p>
          <a:p>
            <a:pPr marL="199707" indent="-199707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full batch only</a:t>
            </a:r>
            <a:endParaRPr lang="en-US" sz="1850"/>
          </a:p>
          <a:p>
            <a:pPr marL="199707" indent="-199707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torch.optim.LBFGS</a:t>
            </a:r>
            <a:endParaRPr lang="en-US" sz="1850"/>
          </a:p>
        </p:txBody>
      </p:sp>
      <p:sp>
        <p:nvSpPr>
          <p:cNvPr id="13" name="Setting"/>
          <p:cNvSpPr txBox="1"/>
          <p:nvPr/>
        </p:nvSpPr>
        <p:spPr>
          <a:xfrm>
            <a:off x="457200" y="594360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0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sin(2πx), 256 points, MLP 1 → 20 → 20 → 1 (d = 481), full batch, same θ₀.</a:t>
            </a:r>
            <a:endParaRPr lang="en-US" sz="1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PyTorch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Everything in one loop (PyTorch)</a:t>
            </a:r>
            <a:endParaRPr lang="en-US" sz="2800"/>
          </a:p>
        </p:txBody>
      </p:sp>
      <p:sp>
        <p:nvSpPr>
          <p:cNvPr id="11" name="Code block"/>
          <p:cNvSpPr/>
          <p:nvPr/>
        </p:nvSpPr>
        <p:spPr>
          <a:xfrm>
            <a:off x="457200" y="1219200"/>
            <a:ext cx="11277600" cy="4572000"/>
          </a:xfrm>
          <a:prstGeom prst="roundRect">
            <a:avLst>
              <a:gd name="adj" fmla="val 1333"/>
            </a:avLst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Code"/>
          <p:cNvSpPr txBox="1"/>
          <p:nvPr/>
        </p:nvSpPr>
        <p:spPr>
          <a:xfrm>
            <a:off x="731520" y="1417320"/>
            <a:ext cx="10728960" cy="43129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2250"/>
              </a:lnSpc>
            </a:pPr>
            <a:r>
              <a:rPr sz="1600" b="0" i="0">
                <a:solidFill>
                  <a:srgbClr val="F1F1EE"/>
                </a:solidFill>
                <a:latin typeface="Consolas"/>
                <a:ea typeface="Consolas"/>
                <a:cs typeface="Consolas"/>
              </a:rPr>
              <a:t>model = MLP([1, 64, 64, 1])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F1F1EE"/>
                </a:solidFill>
                <a:latin typeface="Consolas"/>
                <a:ea typeface="Consolas"/>
                <a:cs typeface="Consolas"/>
              </a:rPr>
              <a:t>optimizer = torch.optim.Adam(model.parameters(), lr=1e-3) </a:t>
            </a:r>
            <a:r>
              <a:rPr sz="1600" b="0" i="0">
                <a:solidFill>
                  <a:srgbClr val="8E9BAB"/>
                </a:solidFill>
                <a:latin typeface="Consolas"/>
                <a:ea typeface="Consolas"/>
                <a:cs typeface="Consolas"/>
              </a:rPr>
              <a:t># lr = η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F1F1EE"/>
                </a:solidFill>
                <a:latin typeface="Consolas"/>
                <a:ea typeface="Consolas"/>
                <a:cs typeface="Consolas"/>
              </a:rPr>
              <a:t>scheduler = torch.optim.lr_scheduler.CosineAnnealingLR(optimizer, n_epochs)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F1F1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F1F1EE"/>
                </a:solidFill>
                <a:latin typeface="Consolas"/>
                <a:ea typeface="Consolas"/>
                <a:cs typeface="Consolas"/>
              </a:rPr>
              <a:t>for epoch in range(n_epochs):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F1F1EE"/>
                </a:solidFill>
                <a:latin typeface="Consolas"/>
                <a:ea typeface="Consolas"/>
                <a:cs typeface="Consolas"/>
              </a:rPr>
              <a:t>    for xb, yb in train_loader: </a:t>
            </a:r>
            <a:r>
              <a:rPr sz="1600" b="0" i="0">
                <a:solidFill>
                  <a:srgbClr val="8E9BAB"/>
                </a:solidFill>
                <a:latin typeface="Consolas"/>
                <a:ea typeface="Consolas"/>
                <a:cs typeface="Consolas"/>
              </a:rPr>
              <a:t># mini-batches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8EC5F0"/>
                </a:solidFill>
                <a:latin typeface="Consolas"/>
                <a:ea typeface="Consolas"/>
                <a:cs typeface="Consolas"/>
              </a:rPr>
              <a:t>        optimizer.zero_grad()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8EC5F0"/>
                </a:solidFill>
                <a:latin typeface="Consolas"/>
                <a:ea typeface="Consolas"/>
                <a:cs typeface="Consolas"/>
              </a:rPr>
              <a:t>        loss = loss_fn(model(xb), yb) </a:t>
            </a:r>
            <a:r>
              <a:rPr sz="1600" b="0" i="0">
                <a:solidFill>
                  <a:srgbClr val="8E9BAB"/>
                </a:solidFill>
                <a:latin typeface="Consolas"/>
                <a:ea typeface="Consolas"/>
                <a:cs typeface="Consolas"/>
              </a:rPr>
              <a:t># loss on the batch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8EC5F0"/>
                </a:solidFill>
                <a:latin typeface="Consolas"/>
                <a:ea typeface="Consolas"/>
                <a:cs typeface="Consolas"/>
              </a:rPr>
              <a:t>        loss.backward() </a:t>
            </a:r>
            <a:r>
              <a:rPr sz="1600" b="0" i="0">
                <a:solidFill>
                  <a:srgbClr val="8E9BAB"/>
                </a:solidFill>
                <a:latin typeface="Consolas"/>
                <a:ea typeface="Consolas"/>
                <a:cs typeface="Consolas"/>
              </a:rPr>
              <a:t># gradient (autodiff)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8EC5F0"/>
                </a:solidFill>
                <a:latin typeface="Consolas"/>
                <a:ea typeface="Consolas"/>
                <a:cs typeface="Consolas"/>
              </a:rPr>
              <a:t>        optimizer.step() </a:t>
            </a:r>
            <a:r>
              <a:rPr sz="1600" b="0" i="0">
                <a:solidFill>
                  <a:srgbClr val="8E9BAB"/>
                </a:solidFill>
                <a:latin typeface="Consolas"/>
                <a:ea typeface="Consolas"/>
                <a:cs typeface="Consolas"/>
              </a:rPr>
              <a:t># update θ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F1F1EE"/>
                </a:solidFill>
                <a:latin typeface="Consolas"/>
                <a:ea typeface="Consolas"/>
                <a:cs typeface="Consolas"/>
              </a:rPr>
              <a:t>    scheduler.step() </a:t>
            </a:r>
            <a:r>
              <a:rPr sz="1600" b="0" i="0">
                <a:solidFill>
                  <a:srgbClr val="8E9BAB"/>
                </a:solidFill>
                <a:latin typeface="Consolas"/>
                <a:ea typeface="Consolas"/>
                <a:cs typeface="Consolas"/>
              </a:rPr>
              <a:t># decrease η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F1F1EE"/>
                </a:solidFill>
                <a:latin typeface="Consolas"/>
                <a:ea typeface="Consolas"/>
                <a:cs typeface="Consolas"/>
              </a:rPr>
              <a:t>    with torch.no_grad():</a:t>
            </a:r>
          </a:p>
          <a:p>
            <a:pPr>
              <a:lnSpc>
                <a:spcPts val="2250"/>
              </a:lnSpc>
            </a:pPr>
            <a:r>
              <a:rPr sz="1600" b="0" i="0">
                <a:solidFill>
                  <a:srgbClr val="F1F1EE"/>
                </a:solidFill>
                <a:latin typeface="Consolas"/>
                <a:ea typeface="Consolas"/>
                <a:cs typeface="Consolas"/>
              </a:rPr>
              <a:t>        val_loss = loss_fn(model(X_val), Y_val) </a:t>
            </a:r>
            <a:r>
              <a:rPr sz="1600" b="0" i="0">
                <a:solidFill>
                  <a:srgbClr val="8E9BAB"/>
                </a:solidFill>
                <a:latin typeface="Consolas"/>
                <a:ea typeface="Consolas"/>
                <a:cs typeface="Consolas"/>
              </a:rPr>
              <a:t># watch overfitting</a:t>
            </a:r>
          </a:p>
        </p:txBody>
      </p:sp>
      <p:sp>
        <p:nvSpPr>
          <p:cNvPr id="13" name="Then"/>
          <p:cNvSpPr txBox="1"/>
          <p:nvPr/>
        </p:nvSpPr>
        <p:spPr>
          <a:xfrm>
            <a:off x="457200" y="5928360"/>
            <a:ext cx="1127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Then, for PINNs: a few hundred </a:t>
            </a:r>
            <a:r>
              <a:rPr sz="1950" b="1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L-BFGS</a:t>
            </a:r>
            <a:r>
              <a:rPr sz="1950" b="0" i="0">
                <a:solidFill>
                  <a:srgbClr val="4A5663"/>
                </a:solidFill>
                <a:latin typeface="Arial"/>
                <a:ea typeface="Arial"/>
                <a:cs typeface="Arial"/>
              </a:rPr>
              <a:t> iterations on the full batch.</a:t>
            </a:r>
            <a:endParaRPr lang="en-US" sz="19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Fourier features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Fourier features: feed the network with waves</a:t>
            </a:r>
            <a:endParaRPr lang="en-US" sz="2800"/>
          </a:p>
        </p:txBody>
      </p:sp>
      <p:pic>
        <p:nvPicPr>
          <p:cNvPr id="11" name="Fourier features figure" descr="s3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9906000" cy="4312596"/>
          </a:xfrm>
          <a:prstGeom prst="rect">
            <a:avLst/>
          </a:prstGeom>
        </p:spPr>
      </p:pic>
      <p:sp>
        <p:nvSpPr>
          <p:cNvPr id="12" name="Equation box"/>
          <p:cNvSpPr/>
          <p:nvPr/>
        </p:nvSpPr>
        <p:spPr>
          <a:xfrm>
            <a:off x="457200" y="5524500"/>
            <a:ext cx="68580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3C"/>
            </a:solidFill>
          </a:ln>
        </p:spPr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896708" y="5647910"/>
                <a:ext cx="5978985" cy="40088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𝛾</m:t>
                      </m:r>
                      <m:d>
                        <m:d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</m:d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𝜋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, </m:t>
                          </m:r>
                          <m:r>
                            <m:rPr>
                              <m:sty m:val="p"/>
                            </m:rP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sin</m:t>
                          </m:r>
                          <m:d>
                            <m:d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𝜋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</m:e>
                      </m:d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,  </m:t>
                      </m:r>
                      <m:sSub>
                        <m:sSub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∼</m:t>
                      </m:r>
                      <m:r>
                        <a:rPr lang="en-US" sz="1564">
                          <a:solidFill>
                            <a:srgbClr val="1B2A3A"/>
                          </a:solidFill>
                          <a:latin typeface="Cambria Math"/>
                        </a:rPr>
                        <m:t>𝒩</m:t>
                      </m:r>
                      <m:d>
                        <m:dPr>
                          <m:ctrlPr>
                            <a:rPr lang="en-US" sz="1564" i="1">
                              <a:solidFill>
                                <a:srgbClr val="1B2A3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64">
                              <a:solidFill>
                                <a:srgbClr val="1B2A3A"/>
                              </a:solidFill>
                              <a:latin typeface="Cambria Math"/>
                            </a:rPr>
                            <m:t>0,</m:t>
                          </m:r>
                          <m:sSubSup>
                            <m:sSubSupPr>
                              <m:ctrlPr>
                                <a:rPr lang="en-US" sz="1564" i="1">
                                  <a:solidFill>
                                    <a:srgbClr val="1B2A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sz="1564">
                                  <a:solidFill>
                                    <a:srgbClr val="1B2A3A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564"/>
              </a:p>
            </p:txBody>
          </p:sp>
        </mc:Choice>
        <mc:Fallback xmlns="">
          <p:sp>
            <p:nvSpPr>
              <p:cNvPr id="13" name="Equation"/>
              <p:cNvSpPr txBox="1"/>
              <p:nvPr/>
            </p:nvSpPr>
            <p:spPr>
              <a:xfrm>
                <a:off x="1385020" y="5711750"/>
                <a:ext cx="5002360" cy="273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  <p:sp>
        <p:nvSpPr>
          <p:cNvPr id="14" name="B"/>
          <p:cNvSpPr txBox="1"/>
          <p:nvPr/>
        </p:nvSpPr>
        <p:spPr>
          <a:xfrm>
            <a:off x="7620000" y="550164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8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B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random, fixed.  σ</a:t>
            </a:r>
            <a:r>
              <a:rPr sz="1850" b="0" i="0" baseline="-25000">
                <a:solidFill>
                  <a:srgbClr val="1B2A3A"/>
                </a:solidFill>
                <a:latin typeface="Arial"/>
                <a:ea typeface="Arial"/>
                <a:cs typeface="Arial"/>
              </a:rPr>
              <a:t>B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how fast the waves are (a hyperparameter).</a:t>
            </a:r>
            <a:endParaRPr lang="en-US" sz="1850"/>
          </a:p>
        </p:txBody>
      </p:sp>
      <p:sp>
        <p:nvSpPr>
          <p:cNvPr id="15" name="Reference"/>
          <p:cNvSpPr txBox="1"/>
          <p:nvPr/>
        </p:nvSpPr>
        <p:spPr>
          <a:xfrm>
            <a:off x="457200" y="6248400"/>
            <a:ext cx="1127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[22] M. Tancik et al., Fourier features let networks learn high frequency functions in low dimensional domains, NeurIPS, 2020.</a:t>
            </a:r>
            <a:endParaRPr lang="en-US" sz="1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Fourier features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Effect: the fast wave is learned at once</a:t>
            </a:r>
            <a:endParaRPr lang="en-US" sz="2800"/>
          </a:p>
        </p:txBody>
      </p:sp>
      <p:pic>
        <p:nvPicPr>
          <p:cNvPr id="11" name="1D fit, plain vs Fourier" descr="s35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8892886" cy="4953000"/>
          </a:xfrm>
          <a:prstGeom prst="rect">
            <a:avLst/>
          </a:prstGeom>
        </p:spPr>
      </p:pic>
      <p:sp>
        <p:nvSpPr>
          <p:cNvPr id="12" name="Card accent"/>
          <p:cNvSpPr/>
          <p:nvPr/>
        </p:nvSpPr>
        <p:spPr>
          <a:xfrm>
            <a:off x="9525000" y="1447800"/>
            <a:ext cx="2209800" cy="1143000"/>
          </a:xfrm>
          <a:prstGeom prst="roundRect">
            <a:avLst>
              <a:gd name="adj" fmla="val 4666"/>
            </a:avLst>
          </a:prstGeom>
          <a:solidFill>
            <a:srgbClr val="2F5D8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Card"/>
          <p:cNvSpPr/>
          <p:nvPr/>
        </p:nvSpPr>
        <p:spPr>
          <a:xfrm>
            <a:off x="9563100" y="1447800"/>
            <a:ext cx="2171700" cy="1143000"/>
          </a:xfrm>
          <a:prstGeom prst="roundRect">
            <a:avLst>
              <a:gd name="adj" fmla="val 4666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Point"/>
          <p:cNvSpPr txBox="1"/>
          <p:nvPr/>
        </p:nvSpPr>
        <p:spPr>
          <a:xfrm>
            <a:off x="9692640" y="1447800"/>
            <a:ext cx="19812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6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Plain MLP</a:t>
            </a:r>
            <a:r>
              <a:rPr sz="16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slow wave first; fast wave still missing after 3000 iterations</a:t>
            </a:r>
            <a:endParaRPr lang="en-US" sz="1650"/>
          </a:p>
        </p:txBody>
      </p:sp>
      <p:sp>
        <p:nvSpPr>
          <p:cNvPr id="15" name="Card accent"/>
          <p:cNvSpPr/>
          <p:nvPr/>
        </p:nvSpPr>
        <p:spPr>
          <a:xfrm>
            <a:off x="9525000" y="2743200"/>
            <a:ext cx="2209800" cy="990600"/>
          </a:xfrm>
          <a:prstGeom prst="roundRect">
            <a:avLst>
              <a:gd name="adj" fmla="val 5384"/>
            </a:avLst>
          </a:prstGeom>
          <a:solidFill>
            <a:srgbClr val="9B2C3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Card"/>
          <p:cNvSpPr/>
          <p:nvPr/>
        </p:nvSpPr>
        <p:spPr>
          <a:xfrm>
            <a:off x="9563100" y="2743200"/>
            <a:ext cx="2171700" cy="9906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E2E1D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Point"/>
          <p:cNvSpPr txBox="1"/>
          <p:nvPr/>
        </p:nvSpPr>
        <p:spPr>
          <a:xfrm>
            <a:off x="9692640" y="2743200"/>
            <a:ext cx="19812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6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Fourier features</a:t>
            </a:r>
            <a:r>
              <a:rPr sz="16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both waves within 50 iterations</a:t>
            </a:r>
            <a:endParaRPr lang="en-US" sz="1650"/>
          </a:p>
        </p:txBody>
      </p:sp>
      <p:sp>
        <p:nvSpPr>
          <p:cNvPr id="18" name="Spectral bias box"/>
          <p:cNvSpPr/>
          <p:nvPr/>
        </p:nvSpPr>
        <p:spPr>
          <a:xfrm>
            <a:off x="9525000" y="3924300"/>
            <a:ext cx="2209800" cy="1143000"/>
          </a:xfrm>
          <a:prstGeom prst="roundRect">
            <a:avLst>
              <a:gd name="adj" fmla="val 5333"/>
            </a:avLst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Spectral bias"/>
          <p:cNvSpPr txBox="1"/>
          <p:nvPr/>
        </p:nvSpPr>
        <p:spPr>
          <a:xfrm>
            <a:off x="9662160" y="3924300"/>
            <a:ext cx="196596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Networks learn </a:t>
            </a: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low frequencies first</a:t>
            </a: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“spectral bias” </a:t>
            </a:r>
            <a:r>
              <a:rPr sz="16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[21]</a:t>
            </a:r>
            <a:endParaRPr lang="en-US" sz="1650"/>
          </a:p>
        </p:txBody>
      </p:sp>
      <p:sp>
        <p:nvSpPr>
          <p:cNvPr id="20" name="Reference"/>
          <p:cNvSpPr txBox="1"/>
          <p:nvPr/>
        </p:nvSpPr>
        <p:spPr>
          <a:xfrm>
            <a:off x="457200" y="6248400"/>
            <a:ext cx="1127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0" i="0">
                <a:solidFill>
                  <a:srgbClr val="2F5D8C"/>
                </a:solidFill>
                <a:latin typeface="Arial"/>
                <a:ea typeface="Arial"/>
                <a:cs typeface="Arial"/>
              </a:rPr>
              <a:t>[21] N. Rahaman et al., On the spectral bias of neural networks, ICML, 2019.</a:t>
            </a:r>
            <a:endParaRPr lang="en-US" sz="13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Fourier features</a:t>
            </a:r>
            <a:endParaRPr lang="en-US" sz="1150"/>
          </a:p>
        </p:txBody>
      </p:sp>
      <p:sp>
        <p:nvSpPr>
          <p:cNvPr id="10" name="Title"/>
          <p:cNvSpPr txBox="1"/>
          <p:nvPr/>
        </p:nvSpPr>
        <p:spPr>
          <a:xfrm>
            <a:off x="457200" y="594360"/>
            <a:ext cx="1127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800" b="1" i="0">
                <a:solidFill>
                  <a:srgbClr val="9B2C3C"/>
                </a:solidFill>
                <a:latin typeface="Times New Roman"/>
                <a:ea typeface="Times New Roman"/>
                <a:cs typeface="Times New Roman"/>
              </a:rPr>
              <a:t>V.</a:t>
            </a:r>
            <a:r>
              <a:rPr sz="2800" b="1" i="0">
                <a:solidFill>
                  <a:srgbClr val="1B2A3A"/>
                </a:solidFill>
                <a:latin typeface="Times New Roman"/>
                <a:ea typeface="Times New Roman"/>
                <a:cs typeface="Times New Roman"/>
              </a:rPr>
              <a:t> On images: sharper, but σ_B must be chosen</a:t>
            </a:r>
            <a:endParaRPr lang="en-US" sz="2800"/>
          </a:p>
        </p:txBody>
      </p:sp>
      <p:pic>
        <p:nvPicPr>
          <p:cNvPr id="11" name="Image reconstructions" descr="s36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57300"/>
            <a:ext cx="8450801" cy="4572000"/>
          </a:xfrm>
          <a:prstGeom prst="rect">
            <a:avLst/>
          </a:prstGeom>
        </p:spPr>
      </p:pic>
      <p:sp>
        <p:nvSpPr>
          <p:cNvPr id="12" name="Points"/>
          <p:cNvSpPr txBox="1"/>
          <p:nvPr/>
        </p:nvSpPr>
        <p:spPr>
          <a:xfrm>
            <a:off x="8991600" y="1676400"/>
            <a:ext cx="2743200" cy="396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99707" indent="-199707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input (x, y) → grey level</a:t>
            </a:r>
            <a:endParaRPr lang="en-US" sz="1850"/>
          </a:p>
          <a:p>
            <a:pPr marL="199707" indent="-199707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850" b="0" i="0">
                <a:solidFill>
                  <a:srgbClr val="2E7D6B"/>
                </a:solidFill>
                <a:latin typeface="Arial"/>
                <a:ea typeface="Arial"/>
                <a:cs typeface="Arial"/>
              </a:rPr>
              <a:t>σ</a:t>
            </a:r>
            <a:r>
              <a:rPr sz="1850" b="0" i="0" baseline="-25000">
                <a:solidFill>
                  <a:srgbClr val="2E7D6B"/>
                </a:solidFill>
                <a:latin typeface="Arial"/>
                <a:ea typeface="Arial"/>
                <a:cs typeface="Arial"/>
              </a:rPr>
              <a:t>B</a:t>
            </a:r>
            <a:r>
              <a:rPr sz="1850" b="0" i="0">
                <a:solidFill>
                  <a:srgbClr val="2E7D6B"/>
                </a:solidFill>
                <a:latin typeface="Arial"/>
                <a:ea typeface="Arial"/>
                <a:cs typeface="Arial"/>
              </a:rPr>
              <a:t> = 3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sharp</a:t>
            </a:r>
            <a:endParaRPr lang="en-US" sz="1850"/>
          </a:p>
          <a:p>
            <a:pPr marL="199707" indent="-199707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850" b="0" i="0">
                <a:solidFill>
                  <a:srgbClr val="9B2C3C"/>
                </a:solidFill>
                <a:latin typeface="Arial"/>
                <a:ea typeface="Arial"/>
                <a:cs typeface="Arial"/>
              </a:rPr>
              <a:t>σ</a:t>
            </a:r>
            <a:r>
              <a:rPr sz="1850" b="0" i="0" baseline="-25000">
                <a:solidFill>
                  <a:srgbClr val="9B2C3C"/>
                </a:solidFill>
                <a:latin typeface="Arial"/>
                <a:ea typeface="Arial"/>
                <a:cs typeface="Arial"/>
              </a:rPr>
              <a:t>B</a:t>
            </a:r>
            <a:r>
              <a:rPr sz="1850" b="0" i="0">
                <a:solidFill>
                  <a:srgbClr val="9B2C3C"/>
                </a:solidFill>
                <a:latin typeface="Arial"/>
                <a:ea typeface="Arial"/>
                <a:cs typeface="Arial"/>
              </a:rPr>
              <a:t> = 10, 30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: noise between pixels: </a:t>
            </a:r>
            <a:r>
              <a:rPr sz="18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overfitting</a:t>
            </a:r>
            <a:endParaRPr lang="en-US" sz="1850"/>
          </a:p>
          <a:p>
            <a:pPr marL="199707" indent="-199707" algn="l">
              <a:lnSpc>
                <a:spcPct val="105000"/>
              </a:lnSpc>
              <a:spcAft>
                <a:spcPts val="2000"/>
              </a:spcAft>
              <a:buFont typeface="Arial"/>
              <a:buChar char="•"/>
            </a:pP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σ</a:t>
            </a:r>
            <a:r>
              <a:rPr sz="1850" b="0" i="0" baseline="-25000">
                <a:solidFill>
                  <a:srgbClr val="1B2A3A"/>
                </a:solidFill>
                <a:latin typeface="Arial"/>
                <a:ea typeface="Arial"/>
                <a:cs typeface="Arial"/>
              </a:rPr>
              <a:t>B</a:t>
            </a:r>
            <a:r>
              <a:rPr sz="18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 chosen on </a:t>
            </a:r>
            <a:r>
              <a:rPr sz="1850" b="1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validation</a:t>
            </a:r>
            <a:endParaRPr lang="en-US" sz="18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 bar"/>
          <p:cNvSpPr/>
          <p:nvPr/>
        </p:nvSpPr>
        <p:spPr>
          <a:xfrm>
            <a:off x="0" y="0"/>
            <a:ext cx="12192000" cy="403860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Nav Machine learning"/>
          <p:cNvSpPr txBox="1"/>
          <p:nvPr/>
        </p:nvSpPr>
        <p:spPr>
          <a:xfrm>
            <a:off x="4419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Machine learning</a:t>
            </a:r>
            <a:endParaRPr lang="en-US" sz="1150"/>
          </a:p>
        </p:txBody>
      </p:sp>
      <p:sp>
        <p:nvSpPr>
          <p:cNvPr id="4" name="Nav Problem"/>
          <p:cNvSpPr txBox="1"/>
          <p:nvPr/>
        </p:nvSpPr>
        <p:spPr>
          <a:xfrm>
            <a:off x="20040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Problem</a:t>
            </a:r>
            <a:endParaRPr lang="en-US" sz="1150"/>
          </a:p>
        </p:txBody>
      </p:sp>
      <p:sp>
        <p:nvSpPr>
          <p:cNvPr id="5" name="Nav Model"/>
          <p:cNvSpPr txBox="1"/>
          <p:nvPr/>
        </p:nvSpPr>
        <p:spPr>
          <a:xfrm>
            <a:off x="288036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Model</a:t>
            </a:r>
            <a:endParaRPr lang="en-US" sz="1150"/>
          </a:p>
        </p:txBody>
      </p:sp>
      <p:sp>
        <p:nvSpPr>
          <p:cNvPr id="6" name="Nav Training"/>
          <p:cNvSpPr txBox="1"/>
          <p:nvPr/>
        </p:nvSpPr>
        <p:spPr>
          <a:xfrm>
            <a:off x="358902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Training</a:t>
            </a:r>
            <a:endParaRPr lang="en-US" sz="1150"/>
          </a:p>
        </p:txBody>
      </p:sp>
      <p:sp>
        <p:nvSpPr>
          <p:cNvPr id="7" name="Nav Optimization"/>
          <p:cNvSpPr txBox="1"/>
          <p:nvPr/>
        </p:nvSpPr>
        <p:spPr>
          <a:xfrm>
            <a:off x="445008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0" i="0">
                <a:solidFill>
                  <a:srgbClr val="8E9AA8"/>
                </a:solidFill>
                <a:latin typeface="Arial"/>
                <a:ea typeface="Arial"/>
                <a:cs typeface="Arial"/>
              </a:rPr>
              <a:t>Optimization</a:t>
            </a:r>
            <a:endParaRPr lang="en-US" sz="1150"/>
          </a:p>
        </p:txBody>
      </p:sp>
      <p:sp>
        <p:nvSpPr>
          <p:cNvPr id="8" name="Nav In practice"/>
          <p:cNvSpPr txBox="1"/>
          <p:nvPr/>
        </p:nvSpPr>
        <p:spPr>
          <a:xfrm>
            <a:off x="5676900" y="4572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practice</a:t>
            </a:r>
            <a:endParaRPr lang="en-US" sz="1150"/>
          </a:p>
        </p:txBody>
      </p:sp>
      <p:sp>
        <p:nvSpPr>
          <p:cNvPr id="9" name="Nav section"/>
          <p:cNvSpPr txBox="1"/>
          <p:nvPr/>
        </p:nvSpPr>
        <p:spPr>
          <a:xfrm>
            <a:off x="7924800" y="4572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150" b="0" i="0">
                <a:solidFill>
                  <a:srgbClr val="9CC3E0"/>
                </a:solidFill>
                <a:latin typeface="Arial"/>
                <a:ea typeface="Arial"/>
                <a:cs typeface="Arial"/>
              </a:rPr>
              <a:t>Next</a:t>
            </a:r>
            <a:endParaRPr lang="en-US" sz="1150"/>
          </a:p>
        </p:txBody>
      </p:sp>
      <p:sp>
        <p:nvSpPr>
          <p:cNvPr id="10" name="Kicker"/>
          <p:cNvSpPr txBox="1"/>
          <p:nvPr/>
        </p:nvSpPr>
        <p:spPr>
          <a:xfrm>
            <a:off x="2286000" y="1813560"/>
            <a:ext cx="7620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300" b="1" i="0" spc="200">
                <a:solidFill>
                  <a:srgbClr val="9CC3E0"/>
                </a:solidFill>
                <a:latin typeface="Arial"/>
                <a:ea typeface="Arial"/>
                <a:cs typeface="Arial"/>
              </a:rPr>
              <a:t>NEXT: HANDS-ON</a:t>
            </a:r>
            <a:endParaRPr lang="en-US" sz="1300"/>
          </a:p>
        </p:txBody>
      </p:sp>
      <p:sp>
        <p:nvSpPr>
          <p:cNvPr id="11" name="Title"/>
          <p:cNvSpPr txBox="1"/>
          <p:nvPr/>
        </p:nvSpPr>
        <p:spPr>
          <a:xfrm>
            <a:off x="1524000" y="2286000"/>
            <a:ext cx="91440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sz="4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Now you train your own networks, in a notebook</a:t>
            </a:r>
            <a:endParaRPr lang="en-US" sz="4200"/>
          </a:p>
        </p:txBody>
      </p:sp>
      <p:sp>
        <p:nvSpPr>
          <p:cNvPr id="12" name="Text"/>
          <p:cNvSpPr txBox="1"/>
          <p:nvPr/>
        </p:nvSpPr>
        <p:spPr>
          <a:xfrm>
            <a:off x="1524000" y="377190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650" b="0" i="0">
                <a:solidFill>
                  <a:srgbClr val="E6E8EB"/>
                </a:solidFill>
                <a:latin typeface="Arial"/>
                <a:ea typeface="Arial"/>
                <a:cs typeface="Arial"/>
              </a:rPr>
              <a:t>We practice everything seen today with PyTorch, step by step. The same code will be the starting point of our PINNs.</a:t>
            </a:r>
            <a:endParaRPr lang="en-US" sz="1650"/>
          </a:p>
        </p:txBody>
      </p:sp>
      <p:sp>
        <p:nvSpPr>
          <p:cNvPr id="13" name="Step"/>
          <p:cNvSpPr/>
          <p:nvPr/>
        </p:nvSpPr>
        <p:spPr>
          <a:xfrm>
            <a:off x="1897380" y="4709160"/>
            <a:ext cx="731520" cy="411480"/>
          </a:xfrm>
          <a:prstGeom prst="roundRect">
            <a:avLst>
              <a:gd name="adj" fmla="val 12962"/>
            </a:avLst>
          </a:prstGeom>
          <a:solidFill>
            <a:srgbClr val="F7F6F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Step label"/>
          <p:cNvSpPr txBox="1"/>
          <p:nvPr/>
        </p:nvSpPr>
        <p:spPr>
          <a:xfrm>
            <a:off x="1897380" y="4709160"/>
            <a:ext cx="731520" cy="4114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6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data</a:t>
            </a:r>
            <a:endParaRPr lang="en-US" sz="1650"/>
          </a:p>
        </p:txBody>
      </p:sp>
      <p:sp>
        <p:nvSpPr>
          <p:cNvPr id="15" name="Arrow"/>
          <p:cNvSpPr/>
          <p:nvPr/>
        </p:nvSpPr>
        <p:spPr>
          <a:xfrm>
            <a:off x="2750820" y="4846320"/>
            <a:ext cx="289560" cy="137160"/>
          </a:xfrm>
          <a:prstGeom prst="rightArrow">
            <a:avLst/>
          </a:prstGeom>
          <a:solidFill>
            <a:srgbClr val="8E9AA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Step"/>
          <p:cNvSpPr/>
          <p:nvPr/>
        </p:nvSpPr>
        <p:spPr>
          <a:xfrm>
            <a:off x="3162300" y="4709160"/>
            <a:ext cx="685800" cy="411480"/>
          </a:xfrm>
          <a:prstGeom prst="roundRect">
            <a:avLst>
              <a:gd name="adj" fmla="val 12962"/>
            </a:avLst>
          </a:prstGeom>
          <a:solidFill>
            <a:srgbClr val="F7F6F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Step label"/>
          <p:cNvSpPr txBox="1"/>
          <p:nvPr/>
        </p:nvSpPr>
        <p:spPr>
          <a:xfrm>
            <a:off x="3162300" y="4709160"/>
            <a:ext cx="685800" cy="4114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6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MLP</a:t>
            </a:r>
            <a:endParaRPr lang="en-US" sz="1650"/>
          </a:p>
        </p:txBody>
      </p:sp>
      <p:sp>
        <p:nvSpPr>
          <p:cNvPr id="18" name="Arrow"/>
          <p:cNvSpPr/>
          <p:nvPr/>
        </p:nvSpPr>
        <p:spPr>
          <a:xfrm>
            <a:off x="3970020" y="4846320"/>
            <a:ext cx="289560" cy="137160"/>
          </a:xfrm>
          <a:prstGeom prst="rightArrow">
            <a:avLst/>
          </a:prstGeom>
          <a:solidFill>
            <a:srgbClr val="8E9AA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Step"/>
          <p:cNvSpPr/>
          <p:nvPr/>
        </p:nvSpPr>
        <p:spPr>
          <a:xfrm>
            <a:off x="4381500" y="4709160"/>
            <a:ext cx="670560" cy="411480"/>
          </a:xfrm>
          <a:prstGeom prst="roundRect">
            <a:avLst>
              <a:gd name="adj" fmla="val 12962"/>
            </a:avLst>
          </a:prstGeom>
          <a:solidFill>
            <a:srgbClr val="F7F6F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Step label"/>
          <p:cNvSpPr txBox="1"/>
          <p:nvPr/>
        </p:nvSpPr>
        <p:spPr>
          <a:xfrm>
            <a:off x="4381500" y="4709160"/>
            <a:ext cx="670560" cy="4114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6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loss</a:t>
            </a:r>
            <a:endParaRPr lang="en-US" sz="1650"/>
          </a:p>
        </p:txBody>
      </p:sp>
      <p:sp>
        <p:nvSpPr>
          <p:cNvPr id="21" name="Arrow"/>
          <p:cNvSpPr/>
          <p:nvPr/>
        </p:nvSpPr>
        <p:spPr>
          <a:xfrm>
            <a:off x="5173980" y="4846320"/>
            <a:ext cx="289560" cy="137160"/>
          </a:xfrm>
          <a:prstGeom prst="rightArrow">
            <a:avLst/>
          </a:prstGeom>
          <a:solidFill>
            <a:srgbClr val="8E9AA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2" name="Step"/>
          <p:cNvSpPr/>
          <p:nvPr/>
        </p:nvSpPr>
        <p:spPr>
          <a:xfrm>
            <a:off x="5585460" y="4709160"/>
            <a:ext cx="1584960" cy="411480"/>
          </a:xfrm>
          <a:prstGeom prst="roundRect">
            <a:avLst>
              <a:gd name="adj" fmla="val 12962"/>
            </a:avLst>
          </a:prstGeom>
          <a:solidFill>
            <a:srgbClr val="F7F6F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Step label"/>
          <p:cNvSpPr txBox="1"/>
          <p:nvPr/>
        </p:nvSpPr>
        <p:spPr>
          <a:xfrm>
            <a:off x="5585460" y="4709160"/>
            <a:ext cx="1584960" cy="4114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6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Adam, L-BFGS</a:t>
            </a:r>
            <a:endParaRPr lang="en-US" sz="1650"/>
          </a:p>
        </p:txBody>
      </p:sp>
      <p:sp>
        <p:nvSpPr>
          <p:cNvPr id="24" name="Arrow"/>
          <p:cNvSpPr/>
          <p:nvPr/>
        </p:nvSpPr>
        <p:spPr>
          <a:xfrm>
            <a:off x="7292340" y="4846320"/>
            <a:ext cx="289560" cy="137160"/>
          </a:xfrm>
          <a:prstGeom prst="rightArrow">
            <a:avLst/>
          </a:prstGeom>
          <a:solidFill>
            <a:srgbClr val="8E9AA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5" name="Step"/>
          <p:cNvSpPr/>
          <p:nvPr/>
        </p:nvSpPr>
        <p:spPr>
          <a:xfrm>
            <a:off x="7703820" y="4709160"/>
            <a:ext cx="1203960" cy="411480"/>
          </a:xfrm>
          <a:prstGeom prst="roundRect">
            <a:avLst>
              <a:gd name="adj" fmla="val 12962"/>
            </a:avLst>
          </a:prstGeom>
          <a:solidFill>
            <a:srgbClr val="F7F6F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6" name="Step label"/>
          <p:cNvSpPr txBox="1"/>
          <p:nvPr/>
        </p:nvSpPr>
        <p:spPr>
          <a:xfrm>
            <a:off x="7703820" y="4709160"/>
            <a:ext cx="1203960" cy="4114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650" b="0" i="0">
                <a:solidFill>
                  <a:srgbClr val="1B2A3A"/>
                </a:solidFill>
                <a:latin typeface="Arial"/>
                <a:ea typeface="Arial"/>
                <a:cs typeface="Arial"/>
              </a:rPr>
              <a:t>validation</a:t>
            </a:r>
            <a:endParaRPr lang="en-US" sz="1650"/>
          </a:p>
        </p:txBody>
      </p:sp>
      <p:sp>
        <p:nvSpPr>
          <p:cNvPr id="27" name="Arrow"/>
          <p:cNvSpPr/>
          <p:nvPr/>
        </p:nvSpPr>
        <p:spPr>
          <a:xfrm>
            <a:off x="9029700" y="4846320"/>
            <a:ext cx="289560" cy="137160"/>
          </a:xfrm>
          <a:prstGeom prst="rightArrow">
            <a:avLst/>
          </a:prstGeom>
          <a:solidFill>
            <a:srgbClr val="8E9AA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8" name="Step"/>
          <p:cNvSpPr/>
          <p:nvPr/>
        </p:nvSpPr>
        <p:spPr>
          <a:xfrm>
            <a:off x="9441180" y="4709160"/>
            <a:ext cx="838200" cy="411480"/>
          </a:xfrm>
          <a:prstGeom prst="roundRect">
            <a:avLst>
              <a:gd name="adj" fmla="val 12962"/>
            </a:avLst>
          </a:prstGeom>
          <a:solidFill>
            <a:srgbClr val="9B2C3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Step label"/>
          <p:cNvSpPr txBox="1"/>
          <p:nvPr/>
        </p:nvSpPr>
        <p:spPr>
          <a:xfrm>
            <a:off x="9441180" y="4709160"/>
            <a:ext cx="838200" cy="4114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PINNs</a:t>
            </a:r>
            <a:endParaRPr lang="en-US" sz="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3148</Words>
  <Application>Microsoft Macintosh PowerPoint</Application>
  <PresentationFormat>Widescreen</PresentationFormat>
  <Paragraphs>451</Paragraphs>
  <Slides>29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Arial</vt:lpstr>
      <vt:lpstr>Cambria Math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Nassim RAZAALY JAMAL</cp:lastModifiedBy>
  <cp:revision>3</cp:revision>
  <dcterms:created xsi:type="dcterms:W3CDTF">2013-01-27T09:14:16Z</dcterms:created>
  <dcterms:modified xsi:type="dcterms:W3CDTF">2026-10-26T13:32:56Z</dcterms:modified>
  <cp:category/>
</cp:coreProperties>
</file>