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2040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Announce the thread: we start from AI's spectacular applications (film strip: vision, generated faces and images, weather, turbulence) and work down to the common building block - the MLP - which then powers PINNs.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common thread behind all five milestones: ever-deeper neural networks trained on ever more data and compute. The chart makes the 2012 discontinuity visible.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frame is processed tens of times per second. The same perception stack powers Waymo, Tesla, warehouse robots, surgical robotics. Transition: how does a machine learn to do this? -&gt; supervised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Nesting: AI contains ML, which contains deep learning. This course lives in the innermost layer - but the vocabulary matters: not every AI is learned, not every ML model is deep.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animation run while talking: every frame is one snapshot of real training - the boundary is literally gradient descent at work. This loop (data, loss, optimiser) is the template for everything that follows, PINNs included.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the mechanism (watch the kernel slide). Right: the result of actually doing it - Sobel filters applied to a real frame. In a CNN those kernels are learned by gradient descent, exactly as on the previous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 from discriminative to generative: we learn the data distribution itself. Left: the GAN result that fooled humans in 2019. Right: a latent space you can actually watch - trained live on scikit-learn's digits. The latent-space idea carries into the next slide (Stable Diffusion's VAE).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 animation loop: the network's whole job is to undo one small step of this noising, over and over, conditioned on the text. Adding noise is trivial, so training data is unlimited - the model learns the inverse problem. It runs in the latent space of a VAE (previous slide).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disarmingly simple objective - predict the next token - that, at scale, forces the model to learn grammar, facts and reasoning. The animation is a real model trained live; the arc diagram is the heart of the Transformer. ChatGPT then adds RLHF - teaser for the RL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loop at every scale: agent -&gt; action -&gt; environment -&gt; state + reward -&gt; better policy. This maze is tabular Q-learning; swap the table for a deep network and you get DQN (Atari, 2015) and AlphaGo. The learning curve is the real returns from this very training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strategies: replace the solver (FNO, FourCastNet), speed it up (Kochkov: the network corrects a coarse solver), or fix its models (closures). There is a fourth way, which needs no data at all: constrain the network with the PDE itself -&gt; PINNs, after the MLP.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Turning point of the course: from the panorama to the mechanics. Detail the dot product, the bias, and the role of the nonlinearity - without it, the whole stack collapses into a single linear layer. This 3-5-5-1 diagram is the exact shape of network we will code for PINNs.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pivot of the whole deck: the MLP from the previous slide, the training loop from slide 5 - with one new ingredient, the PDE residual in the loss. Left animation: watch the shock form as Adam runs. Next: automatic differentiation, building the loss, Burgers step by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gif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gi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gi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71323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4CC9F0"/>
                </a:solidFill>
              </a:rPr>
              <a:t>AN INTRODUCTION TO ARTIFICIAL INTELLIGENCE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09728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modern AI to neural networks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8803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D6E0"/>
                </a:solidFill>
              </a:rPr>
              <a:t>A visual tour of the breakthroughs — CNNs, GPT, diffusion, reinforcement learning — down to the MLP, the building block behind PINNs.</a:t>
            </a:r>
          </a:p>
        </p:txBody>
      </p:sp>
      <p:pic>
        <p:nvPicPr>
          <p:cNvPr id="5" name="Image 0" descr="/tmp/claude-0/-home-claude/2d1c03a5-1b37-5417-bc19-7ea356031828/scratchpad/assets/maskrcnn_stree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63440"/>
            <a:ext cx="2029968" cy="1143000"/>
          </a:xfrm>
          <a:prstGeom prst="rect">
            <a:avLst/>
          </a:prstGeom>
        </p:spPr>
      </p:pic>
      <p:pic>
        <p:nvPicPr>
          <p:cNvPr id="6" name="Image 1" descr="/tmp/claude-0/-home-claude/2d1c03a5-1b37-5417-bc19-7ea356031828/scratchpad/assets/stylegan_fac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784" y="4663440"/>
            <a:ext cx="2029968" cy="1143000"/>
          </a:xfrm>
          <a:prstGeom prst="rect">
            <a:avLst/>
          </a:prstGeom>
        </p:spPr>
      </p:pic>
      <p:pic>
        <p:nvPicPr>
          <p:cNvPr id="7" name="Image 2" descr="/tmp/claude-0/-home-claude/2d1c03a5-1b37-5417-bc19-7ea356031828/scratchpad/assets/sd_sampl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663440"/>
            <a:ext cx="2029968" cy="1143000"/>
          </a:xfrm>
          <a:prstGeom prst="rect">
            <a:avLst/>
          </a:prstGeom>
        </p:spPr>
      </p:pic>
      <p:pic>
        <p:nvPicPr>
          <p:cNvPr id="8" name="Image 3" descr="/tmp/claude-0/-home-claude/2d1c03a5-1b37-5417-bc19-7ea356031828/scratchpad/assets/fourcastnet.gif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4616" y="4663440"/>
            <a:ext cx="2029968" cy="1143000"/>
          </a:xfrm>
          <a:prstGeom prst="rect">
            <a:avLst/>
          </a:prstGeom>
        </p:spPr>
      </p:pic>
      <p:pic>
        <p:nvPicPr>
          <p:cNvPr id="9" name="Image 4" descr="/tmp/claude-0/-home-claude/2d1c03a5-1b37-5417-bc19-7ea356031828/scratchpad/assets/turbulence2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00032" y="4663440"/>
            <a:ext cx="2029968" cy="1143000"/>
          </a:xfrm>
          <a:prstGeom prst="rect">
            <a:avLst/>
          </a:prstGeom>
        </p:spPr>
      </p:pic>
      <p:sp>
        <p:nvSpPr>
          <p:cNvPr id="10" name="Text 3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93A8"/>
                </a:solidFill>
              </a:rPr>
              <a:t>Nassim RAZAALY · ISAE-ENSMA    -- with the assistance of Claude Code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95AC"/>
                </a:solidFill>
              </a:rPr>
              <a:t>RECENT BREAKTHROUGHS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decade of stunning progress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06654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Shape 3"/>
          <p:cNvSpPr/>
          <p:nvPr/>
        </p:nvSpPr>
        <p:spPr>
          <a:xfrm>
            <a:off x="658368" y="1417320"/>
            <a:ext cx="2066544" cy="54864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6" name="Text 4"/>
          <p:cNvSpPr txBox="1"/>
          <p:nvPr/>
        </p:nvSpPr>
        <p:spPr>
          <a:xfrm>
            <a:off x="786384" y="15361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786384" y="1901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38"/>
                </a:solidFill>
              </a:rPr>
              <a:t>AlexNet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86384" y="221284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CNNs crush the ImageNet challenge.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417320"/>
            <a:ext cx="206654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0" name="Shape 8"/>
          <p:cNvSpPr/>
          <p:nvPr/>
        </p:nvSpPr>
        <p:spPr>
          <a:xfrm>
            <a:off x="2880360" y="1417320"/>
            <a:ext cx="2066544" cy="54864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1" name="Text 9"/>
          <p:cNvSpPr txBox="1"/>
          <p:nvPr/>
        </p:nvSpPr>
        <p:spPr>
          <a:xfrm>
            <a:off x="3008376" y="15361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2016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008376" y="1901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38"/>
                </a:solidFill>
              </a:rPr>
              <a:t>AlphaGo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3008376" y="221284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RL beats the world Go champion.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02352" y="1417320"/>
            <a:ext cx="206654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5" name="Shape 13"/>
          <p:cNvSpPr/>
          <p:nvPr/>
        </p:nvSpPr>
        <p:spPr>
          <a:xfrm>
            <a:off x="5102352" y="1417320"/>
            <a:ext cx="2066544" cy="54864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 txBox="1"/>
          <p:nvPr/>
        </p:nvSpPr>
        <p:spPr>
          <a:xfrm>
            <a:off x="5230368" y="15361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95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900" dirty="0"/>
          </a:p>
        </p:txBody>
      </p:sp>
      <p:sp>
        <p:nvSpPr>
          <p:cNvPr id="17" name="Text 15"/>
          <p:cNvSpPr txBox="1"/>
          <p:nvPr/>
        </p:nvSpPr>
        <p:spPr>
          <a:xfrm>
            <a:off x="5230368" y="1901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38"/>
                </a:solidFill>
              </a:rPr>
              <a:t>Transformers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5230368" y="221284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The architecture behind every LLM.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24344" y="1417320"/>
            <a:ext cx="206654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0" name="Shape 18"/>
          <p:cNvSpPr/>
          <p:nvPr/>
        </p:nvSpPr>
        <p:spPr>
          <a:xfrm>
            <a:off x="7324344" y="1417320"/>
            <a:ext cx="2066544" cy="54864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1" name="Text 19"/>
          <p:cNvSpPr txBox="1"/>
          <p:nvPr/>
        </p:nvSpPr>
        <p:spPr>
          <a:xfrm>
            <a:off x="7452360" y="15361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67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2020–22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901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38"/>
                </a:solidFill>
              </a:rPr>
              <a:t>GPT-3 → ChatGPT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452360" y="221284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Large language models go mainstream.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546336" y="1417320"/>
            <a:ext cx="2066544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25" name="Shape 23"/>
          <p:cNvSpPr/>
          <p:nvPr/>
        </p:nvSpPr>
        <p:spPr>
          <a:xfrm>
            <a:off x="9546336" y="1417320"/>
            <a:ext cx="2066544" cy="54864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Text 24"/>
          <p:cNvSpPr txBox="1"/>
          <p:nvPr/>
        </p:nvSpPr>
        <p:spPr>
          <a:xfrm>
            <a:off x="9674352" y="1536192"/>
            <a:ext cx="1810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67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2022–24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9674352" y="19019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C2A38"/>
                </a:solidFill>
              </a:rPr>
              <a:t>Stable Diffusion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674352" y="2212848"/>
            <a:ext cx="18105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68"/>
                </a:solidFill>
              </a:rPr>
              <a:t>Image &amp; video generation for everyone.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58368" y="3182112"/>
            <a:ext cx="108813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30" name="Image 0" descr="/tmp/claude-0/-home-claude/2d1c03a5-1b37-5417-bc19-7ea356031828/scratchpad/assets/imagenet_err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10128"/>
            <a:ext cx="10552176" cy="202996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774"/>
                </a:solidFill>
              </a:rPr>
              <a:t>ImageNet top-5 error of the annual ILSVRC winners</a:t>
            </a:r>
            <a:r>
              <a:rPr lang="en-US" sz="1150" dirty="0">
                <a:solidFill>
                  <a:srgbClr val="5B6774"/>
                </a:solidFill>
              </a:rPr>
              <a:t> — the 2012 break is AlexNet; by 2015 machines surpass humans. Data: Russakovsky et al., IJCV 2015.</a:t>
            </a:r>
            <a:endParaRPr 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2 — Refs: Krizhevsky et al. 2012 · Silver et al. 2016 · Vaswani et al. 2017 · Brown et al. 2020 · Rombach et al. 2022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95AC"/>
                </a:solidFill>
              </a:rPr>
              <a:t>WHAT AI « SEES »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 &amp; segmentation: the eyes of robots and cars</a:t>
            </a:r>
            <a:endParaRPr lang="en-US" sz="3000" dirty="0"/>
          </a:p>
        </p:txBody>
      </p:sp>
      <p:pic>
        <p:nvPicPr>
          <p:cNvPr id="4" name="Image 0" descr="/tmp/claude-0/-home-claude/2d1c03a5-1b37-5417-bc19-7ea356031828/scratchpad/assets/maskrcnn_stree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81328"/>
            <a:ext cx="5943600" cy="3337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" y="4937760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4"/>
                </a:solidFill>
              </a:rPr>
              <a:t>Live instance segmentation — </a:t>
            </a:r>
            <a:r>
              <a:rPr lang="en-US" sz="1200" b="1" dirty="0">
                <a:solidFill>
                  <a:srgbClr val="5B6774"/>
                </a:solidFill>
              </a:rPr>
              <a:t>Mask R-CNN</a:t>
            </a:r>
            <a:r>
              <a:rPr lang="en-US" sz="1200" dirty="0">
                <a:solidFill>
                  <a:srgbClr val="5B6774"/>
                </a:solidFill>
              </a:rPr>
              <a:t> (He et al., ICCV 2017), official Matterport repository.</a:t>
            </a:r>
            <a:endParaRPr lang="en-US" sz="1200" dirty="0"/>
          </a:p>
        </p:txBody>
      </p:sp>
      <p:pic>
        <p:nvPicPr>
          <p:cNvPr id="6" name="Image 1" descr="/tmp/claude-0/-home-claude/2d1c03a5-1b37-5417-bc19-7ea356031828/scratchpad/assets/carla_semantic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1481328"/>
            <a:ext cx="4617720" cy="259689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903720" y="4187952"/>
            <a:ext cx="4617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4"/>
                </a:solidFill>
              </a:rPr>
              <a:t>Semantic view from the </a:t>
            </a:r>
            <a:r>
              <a:rPr lang="en-US" sz="1200" b="1" dirty="0">
                <a:solidFill>
                  <a:srgbClr val="5B6774"/>
                </a:solidFill>
              </a:rPr>
              <a:t>CARLA</a:t>
            </a:r>
            <a:r>
              <a:rPr lang="en-US" sz="1200" dirty="0">
                <a:solidFill>
                  <a:srgbClr val="5B6774"/>
                </a:solidFill>
              </a:rPr>
              <a:t> simulator (Dosovitskiy et al., CoRL 2017), where self-driving stacks are trained.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6903720" y="4892040"/>
            <a:ext cx="4617720" cy="1143000"/>
          </a:xfrm>
          <a:prstGeom prst="roundRect">
            <a:avLst>
              <a:gd name="adj" fmla="val 6400"/>
            </a:avLst>
          </a:prstGeom>
          <a:solidFill>
            <a:srgbClr val="13263C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9" name="Text 5"/>
          <p:cNvSpPr txBox="1"/>
          <p:nvPr/>
        </p:nvSpPr>
        <p:spPr>
          <a:xfrm>
            <a:off x="7086600" y="5029200"/>
            <a:ext cx="4251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CC9F0"/>
                </a:solidFill>
              </a:rPr>
              <a:t>A self-driving car</a:t>
            </a:r>
            <a:r>
              <a:rPr lang="en-US" sz="1250" dirty="0">
                <a:solidFill>
                  <a:srgbClr val="F6F7F4"/>
                </a:solidFill>
              </a:rPr>
              <a:t> = cameras + lidar + radar → neural networks → objects, lanes, pedestrians → decisions.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50292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⊃ machine learning ⊃ deep learning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325880"/>
            <a:ext cx="5212080" cy="4846320"/>
          </a:xfrm>
          <a:prstGeom prst="roundRect">
            <a:avLst>
              <a:gd name="adj" fmla="val 1509"/>
            </a:avLst>
          </a:prstGeom>
          <a:solidFill>
            <a:srgbClr val="EAF6FA"/>
          </a:solidFill>
          <a:ln w="9525">
            <a:solidFill>
              <a:srgbClr val="4CC9F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4" name="Text 2"/>
          <p:cNvSpPr txBox="1"/>
          <p:nvPr/>
        </p:nvSpPr>
        <p:spPr>
          <a:xfrm>
            <a:off x="886968" y="14813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6E80"/>
                </a:solidFill>
              </a:rPr>
              <a:t>Artificial intelligence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86968" y="18105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Machines that mimic human abilities: perceiving, reasoning, deciding.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86968" y="2377440"/>
            <a:ext cx="4754880" cy="3611880"/>
          </a:xfrm>
          <a:prstGeom prst="roundRect">
            <a:avLst>
              <a:gd name="adj" fmla="val 2025"/>
            </a:avLst>
          </a:prstGeom>
          <a:solidFill>
            <a:srgbClr val="DFF0E8"/>
          </a:solidFill>
          <a:ln w="9525">
            <a:solidFill>
              <a:srgbClr val="4AA47C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5"/>
          <p:cNvSpPr txBox="1"/>
          <p:nvPr/>
        </p:nvSpPr>
        <p:spPr>
          <a:xfrm>
            <a:off x="1097280" y="2523744"/>
            <a:ext cx="4297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6E4F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28346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Learning behaviour from data, instead of hand-coded rules.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097280" y="3401568"/>
            <a:ext cx="4315968" cy="2377440"/>
          </a:xfrm>
          <a:prstGeom prst="roundRect">
            <a:avLst>
              <a:gd name="adj" fmla="val 3077"/>
            </a:avLst>
          </a:prstGeom>
          <a:solidFill>
            <a:srgbClr val="13263C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8"/>
          <p:cNvSpPr txBox="1"/>
          <p:nvPr/>
        </p:nvSpPr>
        <p:spPr>
          <a:xfrm>
            <a:off x="1316736" y="39776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CC9F0"/>
                </a:solidFill>
              </a:rPr>
              <a:t>Deep learning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316736" y="4315968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0"/>
                </a:solidFill>
              </a:rPr>
              <a:t>Deep neural networks: CNNs, transformers, diffusion…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92240" y="1737360"/>
            <a:ext cx="41148" cy="105156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3" name="Text 11"/>
          <p:cNvSpPr txBox="1"/>
          <p:nvPr/>
        </p:nvSpPr>
        <p:spPr>
          <a:xfrm>
            <a:off x="6720840" y="1737360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38"/>
                </a:solidFill>
              </a:rPr>
              <a:t>« Classic » AI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720840" y="2084832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</a:rPr>
              <a:t>Expert systems, planning, graph search — rules written by humans.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92240" y="3310128"/>
            <a:ext cx="41148" cy="1051560"/>
          </a:xfrm>
          <a:prstGeom prst="rect">
            <a:avLst/>
          </a:prstGeom>
          <a:solidFill>
            <a:srgbClr val="4AA47C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6" name="Text 14"/>
          <p:cNvSpPr txBox="1"/>
          <p:nvPr/>
        </p:nvSpPr>
        <p:spPr>
          <a:xfrm>
            <a:off x="6720840" y="3310128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38"/>
                </a:solidFill>
              </a:rPr>
              <a:t>Machine learning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6576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</a:rPr>
              <a:t>Regression, classification, clustering — random forests, SVMs, k-means…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92240" y="4882896"/>
            <a:ext cx="41148" cy="1051560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 txBox="1"/>
          <p:nvPr/>
        </p:nvSpPr>
        <p:spPr>
          <a:xfrm>
            <a:off x="6720840" y="4882896"/>
            <a:ext cx="4754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2A38"/>
                </a:solidFill>
              </a:rPr>
              <a:t>Deep learning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5230368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</a:rPr>
              <a:t>Powers every breakthrough on the previous slides — and the PINNs we are heading toward.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4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5720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learning: watch a model learn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88720"/>
            <a:ext cx="557784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4" name="Image 0" descr="/tmp/claude-0/-home-claude/2d1c03a5-1b37-5417-bc19-7ea356031828/scratchpad/assets/moons_train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325880"/>
            <a:ext cx="5303520" cy="3977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" y="5669280"/>
            <a:ext cx="5577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4"/>
                </a:solidFill>
              </a:rPr>
              <a:t>Gradient descent, live</a:t>
            </a:r>
            <a:r>
              <a:rPr lang="en-US" sz="1200" dirty="0">
                <a:solidFill>
                  <a:srgbClr val="5B6774"/>
                </a:solidFill>
              </a:rPr>
              <a:t>: an MLP (2×16) trained for this course on the two-moons dataset — from random to 100 % accuracy in 4,000 iterations.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675120" y="1234440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7" name="Text 4"/>
          <p:cNvSpPr txBox="1"/>
          <p:nvPr/>
        </p:nvSpPr>
        <p:spPr>
          <a:xfrm>
            <a:off x="6876288" y="1325880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95AC"/>
                </a:solidFill>
              </a:rPr>
              <a:t>1 · Labelled data (x, y)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6876288" y="163677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Hundreds of examples: a point x, its class y (class A or class B).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988552" y="2350008"/>
            <a:ext cx="219456" cy="274320"/>
          </a:xfrm>
          <a:prstGeom prst="downArrow">
            <a:avLst/>
          </a:prstGeom>
          <a:solidFill>
            <a:srgbClr val="9AB0B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Shape 7"/>
          <p:cNvSpPr/>
          <p:nvPr/>
        </p:nvSpPr>
        <p:spPr>
          <a:xfrm>
            <a:off x="6675120" y="2660904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1" name="Text 8"/>
          <p:cNvSpPr txBox="1"/>
          <p:nvPr/>
        </p:nvSpPr>
        <p:spPr>
          <a:xfrm>
            <a:off x="6876288" y="2752344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795AC"/>
                </a:solidFill>
              </a:rPr>
              <a:t>2 · A model f(x) with tunable knobs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6876288" y="30632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Measure the error between ŷ = f(x) and the truth y, nudge the knobs downhill, repeat.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988552" y="3776472"/>
            <a:ext cx="219456" cy="274320"/>
          </a:xfrm>
          <a:prstGeom prst="downArrow">
            <a:avLst/>
          </a:prstGeom>
          <a:solidFill>
            <a:srgbClr val="9AB0B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4" name="Shape 11"/>
          <p:cNvSpPr/>
          <p:nvPr/>
        </p:nvSpPr>
        <p:spPr>
          <a:xfrm>
            <a:off x="6675120" y="4087368"/>
            <a:ext cx="4846320" cy="1078992"/>
          </a:xfrm>
          <a:prstGeom prst="roundRect">
            <a:avLst>
              <a:gd name="adj" fmla="val 6780"/>
            </a:avLst>
          </a:prstGeom>
          <a:solidFill>
            <a:srgbClr val="13263C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2"/>
          <p:cNvSpPr txBox="1"/>
          <p:nvPr/>
        </p:nvSpPr>
        <p:spPr>
          <a:xfrm>
            <a:off x="6876288" y="4178808"/>
            <a:ext cx="44805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4CC9F0"/>
                </a:solidFill>
              </a:rPr>
              <a:t>3 · Generalisation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6876288" y="448970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0"/>
                </a:solidFill>
              </a:rPr>
              <a:t>The model is judged on examples it has never seen.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6675120" y="5623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774"/>
                </a:solidFill>
              </a:rPr>
              <a:t>Classification</a:t>
            </a:r>
            <a:r>
              <a:rPr lang="en-US" sz="1250" dirty="0">
                <a:solidFill>
                  <a:srgbClr val="5B6774"/>
                </a:solidFill>
              </a:rPr>
              <a:t> predicts a category · </a:t>
            </a:r>
            <a:r>
              <a:rPr lang="en-US" sz="1250" b="1" dirty="0">
                <a:solidFill>
                  <a:srgbClr val="5B6774"/>
                </a:solidFill>
              </a:rPr>
              <a:t>regression</a:t>
            </a:r>
            <a:r>
              <a:rPr lang="en-US" sz="1250" dirty="0">
                <a:solidFill>
                  <a:srgbClr val="5B6774"/>
                </a:solidFill>
              </a:rPr>
              <a:t> predicts a number.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95AC"/>
                </a:solidFill>
              </a:rPr>
              <a:t>COMPUTER VISION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CNNs: networks that « see »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3017520" cy="3794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5" name="Image 0" descr="/tmp/claude-0/-home-claude/2d1c03a5-1b37-5417-bc19-7ea356031828/scratchpad/assets/conv_anim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600200"/>
            <a:ext cx="2331720" cy="2651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434340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74"/>
                </a:solidFill>
              </a:rPr>
              <a:t>The </a:t>
            </a:r>
            <a:r>
              <a:rPr lang="en-US" sz="1100" b="1" dirty="0">
                <a:solidFill>
                  <a:srgbClr val="5B6774"/>
                </a:solidFill>
              </a:rPr>
              <a:t>convolution</a:t>
            </a:r>
            <a:r>
              <a:rPr lang="en-US" sz="1100" dirty="0">
                <a:solidFill>
                  <a:srgbClr val="5B6774"/>
                </a:solidFill>
              </a:rPr>
              <a:t>: a small filter slides across the image — Dumoulin &amp; Visin, 2016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977640" y="1463040"/>
            <a:ext cx="754380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8" name="Image 1" descr="/tmp/claude-0/-home-claude/2d1c03a5-1b37-5417-bc19-7ea356031828/scratchpad/assets/conv_featur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627632"/>
            <a:ext cx="7178040" cy="125272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60520" y="3017520"/>
            <a:ext cx="7178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4"/>
                </a:solidFill>
              </a:rPr>
              <a:t>Real feature maps</a:t>
            </a:r>
            <a:r>
              <a:rPr lang="en-US" sz="1200" dirty="0">
                <a:solidFill>
                  <a:srgbClr val="5B6774"/>
                </a:solidFill>
              </a:rPr>
              <a:t>, computed for this course: convolving a street image (CARLA camera) with two 3×3 filters already pulls out the structure a car needs to see.</a:t>
            </a:r>
            <a:endParaRPr lang="en-US" sz="1200" dirty="0"/>
          </a:p>
        </p:txBody>
      </p:sp>
      <p:sp>
        <p:nvSpPr>
          <p:cNvPr id="10" name="Text 6"/>
          <p:cNvSpPr txBox="1"/>
          <p:nvPr/>
        </p:nvSpPr>
        <p:spPr>
          <a:xfrm>
            <a:off x="3977640" y="4434840"/>
            <a:ext cx="7543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38"/>
                </a:solidFill>
              </a:rPr>
              <a:t>In a CNN the filters' weights are </a:t>
            </a:r>
            <a:r>
              <a:rPr lang="en-US" sz="1400" b="1" dirty="0">
                <a:solidFill>
                  <a:srgbClr val="1C2A38"/>
                </a:solidFill>
              </a:rPr>
              <a:t>learned</a:t>
            </a:r>
            <a:r>
              <a:rPr lang="en-US" sz="1400" dirty="0">
                <a:solidFill>
                  <a:srgbClr val="1C2A38"/>
                </a:solidFill>
              </a:rPr>
              <a:t>, and stacked layers build a hierarchy: </a:t>
            </a:r>
            <a:r>
              <a:rPr lang="en-US" sz="1400" b="1" dirty="0">
                <a:solidFill>
                  <a:srgbClr val="1795AC"/>
                </a:solidFill>
              </a:rPr>
              <a:t>edges → textures → parts → objects</a:t>
            </a:r>
            <a:r>
              <a:rPr lang="en-US" sz="1400" dirty="0">
                <a:solidFill>
                  <a:srgbClr val="1C2A38"/>
                </a:solidFill>
              </a:rPr>
              <a:t>. Two ideas make it cheap: </a:t>
            </a:r>
            <a:r>
              <a:rPr lang="en-US" sz="1400" b="1" dirty="0">
                <a:solidFill>
                  <a:srgbClr val="1C2A38"/>
                </a:solidFill>
              </a:rPr>
              <a:t>locality</a:t>
            </a:r>
            <a:r>
              <a:rPr lang="en-US" sz="1400" dirty="0">
                <a:solidFill>
                  <a:srgbClr val="1C2A38"/>
                </a:solidFill>
              </a:rPr>
              <a:t> and </a:t>
            </a:r>
            <a:r>
              <a:rPr lang="en-US" sz="1400" b="1" dirty="0">
                <a:solidFill>
                  <a:srgbClr val="1C2A38"/>
                </a:solidFill>
              </a:rPr>
              <a:t>weight sharing</a:t>
            </a:r>
            <a:r>
              <a:rPr lang="en-US" sz="1400" dirty="0">
                <a:solidFill>
                  <a:srgbClr val="1C2A38"/>
                </a:solidFill>
              </a:rPr>
              <a:t>.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58368" y="55778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774"/>
                </a:solidFill>
              </a:rPr>
              <a:t>This is the architecture behind the 2012 ImageNet break on slide 2. Refs: LeCun et al., Proc. IEEE 1998 · Krizhevsky et al., NeurIPS 2012 · He et al., CVPR 2016.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6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95AC"/>
                </a:solidFill>
              </a:rPr>
              <a:t>GENERATIVE MODELS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&amp; GAN: learning to create</a:t>
            </a:r>
            <a:endParaRPr lang="en-US" sz="3000" dirty="0"/>
          </a:p>
        </p:txBody>
      </p:sp>
      <p:pic>
        <p:nvPicPr>
          <p:cNvPr id="4" name="Image 0" descr="/tmp/claude-0/-home-claude/2d1c03a5-1b37-5417-bc19-7ea356031828/scratchpad/assets/stylegan_fa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732" y="1417320"/>
            <a:ext cx="5120640" cy="30723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7732" y="45720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774"/>
                </a:solidFill>
              </a:rPr>
              <a:t>None of these people exist</a:t>
            </a:r>
            <a:r>
              <a:rPr lang="en-US" sz="1150" dirty="0">
                <a:solidFill>
                  <a:srgbClr val="5B6774"/>
                </a:solidFill>
              </a:rPr>
              <a:t> — faces generated by a </a:t>
            </a:r>
            <a:r>
              <a:rPr lang="en-US" sz="1150" b="1" dirty="0">
                <a:solidFill>
                  <a:srgbClr val="5B6774"/>
                </a:solidFill>
              </a:rPr>
              <a:t>GAN</a:t>
            </a:r>
            <a:r>
              <a:rPr lang="en-US" sz="1150" dirty="0">
                <a:solidFill>
                  <a:srgbClr val="5B6774"/>
                </a:solidFill>
              </a:rPr>
              <a:t>: two networks play against each other until fakes are indistinguishable. StyleGAN, Karras et al., CVPR 2019 · Goodfellow et al., NeurIPS 2014.</a:t>
            </a:r>
            <a:endParaRPr lang="en-US" sz="1150" dirty="0"/>
          </a:p>
        </p:txBody>
      </p:sp>
      <p:pic>
        <p:nvPicPr>
          <p:cNvPr id="7" name="Image 1" descr="/tmp/claude-0/-home-claude/2d1c03a5-1b37-5417-bc19-7ea356031828/scratchpad/assets/latent_morph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4896" y="1193016"/>
            <a:ext cx="6698808" cy="334940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404792" y="5651252"/>
            <a:ext cx="6325653" cy="554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4"/>
                </a:solidFill>
              </a:rPr>
              <a:t>A</a:t>
            </a:r>
            <a:r>
              <a:rPr lang="en-US" sz="1200" dirty="0">
                <a:solidFill>
                  <a:srgbClr val="5B6774"/>
                </a:solidFill>
              </a:rPr>
              <a:t>n auto-encoder compresses 1,797 digits into 2 numbers z — walking through z </a:t>
            </a:r>
            <a:r>
              <a:rPr lang="en-US" sz="1200" b="1" dirty="0">
                <a:solidFill>
                  <a:srgbClr val="5B6774"/>
                </a:solidFill>
              </a:rPr>
              <a:t>morphs one digit into another</a:t>
            </a:r>
            <a:r>
              <a:rPr lang="en-US" sz="1200" dirty="0">
                <a:solidFill>
                  <a:srgbClr val="5B6774"/>
                </a:solidFill>
              </a:rPr>
              <a:t>.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5040" y="470916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EAF0F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6"/>
          <p:cNvSpPr txBox="1"/>
          <p:nvPr/>
        </p:nvSpPr>
        <p:spPr>
          <a:xfrm>
            <a:off x="6035040" y="47091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A38"/>
                </a:solidFill>
              </a:rPr>
              <a:t>x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547104" y="4800600"/>
            <a:ext cx="256032" cy="182880"/>
          </a:xfrm>
          <a:prstGeom prst="rightArrow">
            <a:avLst/>
          </a:prstGeom>
          <a:solidFill>
            <a:srgbClr val="9AB0B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2" name="Shape 8"/>
          <p:cNvSpPr/>
          <p:nvPr/>
        </p:nvSpPr>
        <p:spPr>
          <a:xfrm>
            <a:off x="6858000" y="470916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13263C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3" name="Text 9"/>
          <p:cNvSpPr txBox="1"/>
          <p:nvPr/>
        </p:nvSpPr>
        <p:spPr>
          <a:xfrm>
            <a:off x="6858000" y="4709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6F7F4"/>
                </a:solidFill>
              </a:rPr>
              <a:t>encoder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64424" y="4800600"/>
            <a:ext cx="256032" cy="182880"/>
          </a:xfrm>
          <a:prstGeom prst="rightArrow">
            <a:avLst/>
          </a:prstGeom>
          <a:solidFill>
            <a:srgbClr val="9AB0B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Shape 11"/>
          <p:cNvSpPr/>
          <p:nvPr/>
        </p:nvSpPr>
        <p:spPr>
          <a:xfrm>
            <a:off x="8275320" y="470916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6" name="Text 12"/>
          <p:cNvSpPr txBox="1"/>
          <p:nvPr/>
        </p:nvSpPr>
        <p:spPr>
          <a:xfrm>
            <a:off x="8275320" y="47091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D1B2A"/>
                </a:solidFill>
              </a:rPr>
              <a:t>z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8787384" y="4800600"/>
            <a:ext cx="256032" cy="182880"/>
          </a:xfrm>
          <a:prstGeom prst="rightArrow">
            <a:avLst/>
          </a:prstGeom>
          <a:solidFill>
            <a:srgbClr val="9AB0B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8" name="Shape 14"/>
          <p:cNvSpPr/>
          <p:nvPr/>
        </p:nvSpPr>
        <p:spPr>
          <a:xfrm>
            <a:off x="9098280" y="4709160"/>
            <a:ext cx="1051560" cy="402336"/>
          </a:xfrm>
          <a:prstGeom prst="roundRect">
            <a:avLst>
              <a:gd name="adj" fmla="val 18182"/>
            </a:avLst>
          </a:prstGeom>
          <a:solidFill>
            <a:srgbClr val="13263C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5"/>
          <p:cNvSpPr txBox="1"/>
          <p:nvPr/>
        </p:nvSpPr>
        <p:spPr>
          <a:xfrm>
            <a:off x="9098280" y="470916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6F7F4"/>
                </a:solidFill>
              </a:rPr>
              <a:t>decoder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10204704" y="4800600"/>
            <a:ext cx="256032" cy="182880"/>
          </a:xfrm>
          <a:prstGeom prst="rightArrow">
            <a:avLst/>
          </a:prstGeom>
          <a:solidFill>
            <a:srgbClr val="9AB0B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1" name="Shape 17"/>
          <p:cNvSpPr/>
          <p:nvPr/>
        </p:nvSpPr>
        <p:spPr>
          <a:xfrm>
            <a:off x="10515600" y="4709160"/>
            <a:ext cx="457200" cy="402336"/>
          </a:xfrm>
          <a:prstGeom prst="roundRect">
            <a:avLst>
              <a:gd name="adj" fmla="val 18182"/>
            </a:avLst>
          </a:prstGeom>
          <a:solidFill>
            <a:srgbClr val="EAF0F4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2" name="Text 18"/>
          <p:cNvSpPr txBox="1"/>
          <p:nvPr/>
        </p:nvSpPr>
        <p:spPr>
          <a:xfrm>
            <a:off x="10515600" y="470916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C2A38"/>
                </a:solidFill>
              </a:rPr>
              <a:t>x̂</a:t>
            </a:r>
            <a:endParaRPr lang="en-US" sz="1250" dirty="0"/>
          </a:p>
        </p:txBody>
      </p:sp>
      <p:sp>
        <p:nvSpPr>
          <p:cNvPr id="23" name="Text 19"/>
          <p:cNvSpPr txBox="1"/>
          <p:nvPr/>
        </p:nvSpPr>
        <p:spPr>
          <a:xfrm>
            <a:off x="5429396" y="4959137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The </a:t>
            </a:r>
            <a:r>
              <a:rPr lang="en-US" sz="1150" b="1" dirty="0">
                <a:solidFill>
                  <a:srgbClr val="4A5568"/>
                </a:solidFill>
              </a:rPr>
              <a:t>VAE</a:t>
            </a:r>
            <a:r>
              <a:rPr lang="en-US" sz="1150" dirty="0">
                <a:solidFill>
                  <a:srgbClr val="4A5568"/>
                </a:solidFill>
              </a:rPr>
              <a:t> makes this latent space smooth and samplable: sampling z is generating — Kingma &amp; Welling, ICLR 2014. Stable Diffusion runs in exactly such a latent space.</a:t>
            </a:r>
            <a:endParaRPr lang="en-US" sz="1150" dirty="0"/>
          </a:p>
        </p:txBody>
      </p:sp>
      <p:sp>
        <p:nvSpPr>
          <p:cNvPr id="24" name="Text 20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7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8985" y="5942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Diffusion: text → noise → image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194560" y="1737360"/>
            <a:ext cx="219456" cy="274320"/>
          </a:xfrm>
          <a:prstGeom prst="downArrow">
            <a:avLst/>
          </a:prstGeom>
          <a:solidFill>
            <a:srgbClr val="9AB0BE"/>
          </a:solidFill>
          <a:ln/>
        </p:spPr>
        <p:txBody>
          <a:bodyPr/>
          <a:lstStyle/>
          <a:p>
            <a:endParaRPr lang="en-FR"/>
          </a:p>
        </p:txBody>
      </p:sp>
      <p:pic>
        <p:nvPicPr>
          <p:cNvPr id="6" name="Image 0" descr="/tmp/claude-0/-home-claude/2d1c03a5-1b37-5417-bc19-7ea356031828/scratchpad/assets/diffusion_revers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45" y="497143"/>
            <a:ext cx="4908546" cy="539248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8982" y="5784478"/>
            <a:ext cx="45192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774"/>
                </a:solidFill>
              </a:rPr>
              <a:t>Stable Diffusion sample, re-noised along the exact DDPM (Denoising Diffusion Probabilistic Model) schedule and played backwards.</a:t>
            </a:r>
            <a:endParaRPr lang="en-US" sz="1050" dirty="0"/>
          </a:p>
        </p:txBody>
      </p:sp>
      <p:pic>
        <p:nvPicPr>
          <p:cNvPr id="8" name="Image 1" descr="/tmp/claude-0/-home-claude/2d1c03a5-1b37-5417-bc19-7ea356031828/scratchpad/assets/sd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4872" y="496982"/>
            <a:ext cx="5371684" cy="537168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02996" y="4681051"/>
            <a:ext cx="5490438" cy="2938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5568"/>
                </a:solidFill>
              </a:rPr>
              <a:t>Stable Diffusion</a:t>
            </a:r>
            <a:r>
              <a:rPr lang="en-US" sz="1150" dirty="0">
                <a:solidFill>
                  <a:srgbClr val="4A5568"/>
                </a:solidFill>
              </a:rPr>
              <a:t> outputs (official CompVis repository) — Rombach et al., CVPR 2022. </a:t>
            </a:r>
            <a:r>
              <a:rPr lang="en-US" sz="1150" b="1" dirty="0">
                <a:solidFill>
                  <a:srgbClr val="4A5568"/>
                </a:solidFill>
              </a:rPr>
              <a:t>Video</a:t>
            </a:r>
            <a:r>
              <a:rPr lang="en-US" sz="1150" dirty="0">
                <a:solidFill>
                  <a:srgbClr val="4A5568"/>
                </a:solidFill>
              </a:rPr>
              <a:t> is the same idea extended through time: Sora (OpenAI), Veo (Google DeepMind).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8 — Refs: Ho et al., NeurIPS 2020 · Rombach et al., CVPR 2022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6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4CC9F0"/>
                </a:solidFill>
              </a:rPr>
              <a:t>LANGUAGE MODELS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GPT: predict the next word, at planetary scale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37160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C3350"/>
          </a:solidFill>
          <a:ln w="9525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5" name="Text 3"/>
          <p:cNvSpPr txBox="1"/>
          <p:nvPr/>
        </p:nvSpPr>
        <p:spPr>
          <a:xfrm>
            <a:off x="795528" y="137160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7F4"/>
                </a:solidFill>
              </a:rPr>
              <a:t>« The cat sleeps on the </a:t>
            </a:r>
            <a:r>
              <a:rPr lang="en-US" sz="1400" b="1" dirty="0">
                <a:solidFill>
                  <a:srgbClr val="F4A259"/>
                </a:solidFill>
              </a:rPr>
              <a:t>… »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456432" y="1691640"/>
            <a:ext cx="310896" cy="219456"/>
          </a:xfrm>
          <a:prstGeom prst="rightArrow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7" name="Shape 5"/>
          <p:cNvSpPr/>
          <p:nvPr/>
        </p:nvSpPr>
        <p:spPr>
          <a:xfrm>
            <a:off x="3931920" y="1371600"/>
            <a:ext cx="2423160" cy="868680"/>
          </a:xfrm>
          <a:prstGeom prst="roundRect">
            <a:avLst>
              <a:gd name="adj" fmla="val 8421"/>
            </a:avLst>
          </a:prstGeom>
          <a:solidFill>
            <a:srgbClr val="1795AC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8" name="Text 6"/>
          <p:cNvSpPr txBox="1"/>
          <p:nvPr/>
        </p:nvSpPr>
        <p:spPr>
          <a:xfrm>
            <a:off x="4114800" y="1444752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Transformer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175564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</a:rPr>
              <a:t>billions of parameters, self-attention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10528" y="1691640"/>
            <a:ext cx="310896" cy="219456"/>
          </a:xfrm>
          <a:prstGeom prst="rightArrow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1" name="Shape 9"/>
          <p:cNvSpPr/>
          <p:nvPr/>
        </p:nvSpPr>
        <p:spPr>
          <a:xfrm>
            <a:off x="6967728" y="1298448"/>
            <a:ext cx="4572000" cy="1280160"/>
          </a:xfrm>
          <a:prstGeom prst="roundRect">
            <a:avLst>
              <a:gd name="adj" fmla="val 5714"/>
            </a:avLst>
          </a:prstGeom>
          <a:solidFill>
            <a:srgbClr val="1C3350"/>
          </a:solidFill>
          <a:ln w="9525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sp>
        <p:nvSpPr>
          <p:cNvPr id="12" name="Text 10"/>
          <p:cNvSpPr txBox="1"/>
          <p:nvPr/>
        </p:nvSpPr>
        <p:spPr>
          <a:xfrm>
            <a:off x="7114032" y="138988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4A259"/>
                </a:solidFill>
              </a:rPr>
              <a:t>couch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955280" y="1435608"/>
            <a:ext cx="2377440" cy="128016"/>
          </a:xfrm>
          <a:prstGeom prst="roundRect">
            <a:avLst>
              <a:gd name="adj" fmla="val 50000"/>
            </a:avLst>
          </a:prstGeom>
          <a:solidFill>
            <a:srgbClr val="24374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4" name="Shape 12"/>
          <p:cNvSpPr/>
          <p:nvPr/>
        </p:nvSpPr>
        <p:spPr>
          <a:xfrm>
            <a:off x="7955280" y="1435608"/>
            <a:ext cx="1474013" cy="128016"/>
          </a:xfrm>
          <a:prstGeom prst="roundRect">
            <a:avLst>
              <a:gd name="adj" fmla="val 50000"/>
            </a:avLst>
          </a:prstGeom>
          <a:solidFill>
            <a:srgbClr val="F4A259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5" name="Text 13"/>
          <p:cNvSpPr txBox="1"/>
          <p:nvPr/>
        </p:nvSpPr>
        <p:spPr>
          <a:xfrm>
            <a:off x="10424160" y="138988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0"/>
                </a:solidFill>
              </a:rPr>
              <a:t>62 %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114032" y="16916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0"/>
                </a:solidFill>
              </a:rPr>
              <a:t>rug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955280" y="1737360"/>
            <a:ext cx="2377440" cy="128016"/>
          </a:xfrm>
          <a:prstGeom prst="roundRect">
            <a:avLst>
              <a:gd name="adj" fmla="val 50000"/>
            </a:avLst>
          </a:prstGeom>
          <a:solidFill>
            <a:srgbClr val="24374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8" name="Shape 16"/>
          <p:cNvSpPr/>
          <p:nvPr/>
        </p:nvSpPr>
        <p:spPr>
          <a:xfrm>
            <a:off x="7955280" y="1737360"/>
            <a:ext cx="546811" cy="128016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9" name="Text 17"/>
          <p:cNvSpPr txBox="1"/>
          <p:nvPr/>
        </p:nvSpPr>
        <p:spPr>
          <a:xfrm>
            <a:off x="10424160" y="16916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0"/>
                </a:solidFill>
              </a:rPr>
              <a:t>23 %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114032" y="19933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0"/>
                </a:solidFill>
              </a:rPr>
              <a:t>bed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955280" y="2039112"/>
            <a:ext cx="2377440" cy="128016"/>
          </a:xfrm>
          <a:prstGeom prst="roundRect">
            <a:avLst>
              <a:gd name="adj" fmla="val 50000"/>
            </a:avLst>
          </a:prstGeom>
          <a:solidFill>
            <a:srgbClr val="24374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2" name="Shape 20"/>
          <p:cNvSpPr/>
          <p:nvPr/>
        </p:nvSpPr>
        <p:spPr>
          <a:xfrm>
            <a:off x="7955280" y="2039112"/>
            <a:ext cx="213970" cy="128016"/>
          </a:xfrm>
          <a:prstGeom prst="roundRect">
            <a:avLst>
              <a:gd name="adj" fmla="val 50000"/>
            </a:avLst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3" name="Text 21"/>
          <p:cNvSpPr txBox="1"/>
          <p:nvPr/>
        </p:nvSpPr>
        <p:spPr>
          <a:xfrm>
            <a:off x="10424160" y="19933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0"/>
                </a:solidFill>
              </a:rPr>
              <a:t>9 %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7114032" y="229514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0"/>
                </a:solidFill>
              </a:rPr>
              <a:t>roof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955280" y="2340864"/>
            <a:ext cx="2377440" cy="128016"/>
          </a:xfrm>
          <a:prstGeom prst="roundRect">
            <a:avLst>
              <a:gd name="adj" fmla="val 50000"/>
            </a:avLst>
          </a:prstGeom>
          <a:solidFill>
            <a:srgbClr val="24374E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6" name="Shape 24"/>
          <p:cNvSpPr/>
          <p:nvPr/>
        </p:nvSpPr>
        <p:spPr>
          <a:xfrm>
            <a:off x="7955280" y="2340864"/>
            <a:ext cx="91440" cy="128016"/>
          </a:xfrm>
          <a:prstGeom prst="roundRect">
            <a:avLst>
              <a:gd name="adj" fmla="val 70000"/>
            </a:avLst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27" name="Text 25"/>
          <p:cNvSpPr txBox="1"/>
          <p:nvPr/>
        </p:nvSpPr>
        <p:spPr>
          <a:xfrm>
            <a:off x="10424160" y="229514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6E0"/>
                </a:solidFill>
              </a:rPr>
              <a:t>2 %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58368" y="2788920"/>
            <a:ext cx="5166360" cy="3429000"/>
          </a:xfrm>
          <a:prstGeom prst="roundRect">
            <a:avLst>
              <a:gd name="adj" fmla="val 2133"/>
            </a:avLst>
          </a:prstGeom>
          <a:solidFill>
            <a:srgbClr val="1C3350"/>
          </a:solidFill>
          <a:ln w="9525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29" name="Image 0" descr="/tmp/claude-0/-home-claude/2d1c03a5-1b37-5417-bc19-7ea356031828/scratchpad/assets/gpt_tokens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926080"/>
            <a:ext cx="4800600" cy="274320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841248" y="57150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CC9F0"/>
                </a:solidFill>
              </a:rPr>
              <a:t>Generation, live</a:t>
            </a:r>
            <a:r>
              <a:rPr lang="en-US" sz="1050" dirty="0">
                <a:solidFill>
                  <a:srgbClr val="9FB3C4"/>
                </a:solidFill>
              </a:rPr>
              <a:t>: a char-level LM trained for this course on 400 kB of text. GPT = this idea × a trillion words.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6126480" y="2788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C3350"/>
          </a:solidFill>
          <a:ln w="9525">
            <a:solidFill>
              <a:srgbClr val="2E4A6B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32" name="Image 1" descr="/tmp/claude-0/-home-claude/2d1c03a5-1b37-5417-bc19-7ea356031828/scratchpad/assets/attention_ar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2926080"/>
            <a:ext cx="5029200" cy="1234440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6309360" y="42519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C9F0"/>
                </a:solidFill>
              </a:rPr>
              <a:t>Self-attention</a:t>
            </a:r>
            <a:r>
              <a:rPr lang="en-US" sz="1100" dirty="0">
                <a:solidFill>
                  <a:srgbClr val="9FB3C4"/>
                </a:solidFill>
              </a:rPr>
              <a:t>: « it » looks at every word — and resolves to « cat » (schematic).</a:t>
            </a:r>
            <a:endParaRPr lang="en-US" sz="1100" dirty="0"/>
          </a:p>
        </p:txBody>
      </p:sp>
      <p:sp>
        <p:nvSpPr>
          <p:cNvPr id="34" name="Shape 30"/>
          <p:cNvSpPr/>
          <p:nvPr/>
        </p:nvSpPr>
        <p:spPr>
          <a:xfrm>
            <a:off x="6126480" y="5138928"/>
            <a:ext cx="5394960" cy="32004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35" name="Text 31"/>
          <p:cNvSpPr txBox="1"/>
          <p:nvPr/>
        </p:nvSpPr>
        <p:spPr>
          <a:xfrm>
            <a:off x="6126480" y="525780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59"/>
                </a:solidFill>
              </a:rPr>
              <a:t>Scale → emergence</a:t>
            </a:r>
            <a:endParaRPr lang="en-US" sz="1400" dirty="0"/>
          </a:p>
        </p:txBody>
      </p:sp>
      <p:sp>
        <p:nvSpPr>
          <p:cNvPr id="36" name="Text 32"/>
          <p:cNvSpPr txBox="1"/>
          <p:nvPr/>
        </p:nvSpPr>
        <p:spPr>
          <a:xfrm>
            <a:off x="6126480" y="5596128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6E0"/>
                </a:solidFill>
              </a:rPr>
              <a:t>Pre-trained on trillions of words — as models grow, translation, coding and reasoning appear.</a:t>
            </a:r>
            <a:endParaRPr lang="en-US" sz="1150" dirty="0"/>
          </a:p>
        </p:txBody>
      </p:sp>
      <p:sp>
        <p:nvSpPr>
          <p:cNvPr id="37" name="Text 33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93A8"/>
                </a:solidFill>
              </a:rPr>
              <a:t>Intro to AI · 9 — Refs: Vaswani et al., NeurIPS 2017 · Brown et al. (GPT-3), NeurIPS 2020 · Ouyang et al. (RLHF), 2022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95AC"/>
                </a:solidFill>
              </a:rPr>
              <a:t>REINFORCEMENT LEARNING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by trial and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6263640" cy="3429000"/>
          </a:xfrm>
          <a:prstGeom prst="roundRect">
            <a:avLst>
              <a:gd name="adj" fmla="val 2133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5" name="Image 0" descr="/tmp/claude-0/-home-claude/2d1c03a5-1b37-5417-bc19-7ea356031828/scratchpad/assets/rl_maze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554480"/>
            <a:ext cx="5806440" cy="3063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4983480"/>
            <a:ext cx="6263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6774"/>
                </a:solidFill>
              </a:rPr>
              <a:t>Q-learning, trained live for this course</a:t>
            </a:r>
            <a:r>
              <a:rPr lang="en-US" sz="1200" dirty="0">
                <a:solidFill>
                  <a:srgbClr val="5B6774"/>
                </a:solidFill>
              </a:rPr>
              <a:t>: the agent acts, receives a reward, improves its policy π. Episode 1 wanders; after 3,000 episodes it reads the learned value map and reaches the goal in 29 steps.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269480" y="1417320"/>
            <a:ext cx="425196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8" name="Image 1" descr="/tmp/claude-0/-home-claude/2d1c03a5-1b37-5417-bc19-7ea356031828/scratchpad/assets/rl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60" y="1554480"/>
            <a:ext cx="3886200" cy="13350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52360" y="29718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774"/>
                </a:solidFill>
              </a:rPr>
              <a:t>The only training signal: </a:t>
            </a:r>
            <a:r>
              <a:rPr lang="en-US" sz="1150" b="1" dirty="0">
                <a:solidFill>
                  <a:srgbClr val="5B6774"/>
                </a:solidFill>
              </a:rPr>
              <a:t>reward</a:t>
            </a:r>
            <a:r>
              <a:rPr lang="en-US" sz="1150" dirty="0">
                <a:solidFill>
                  <a:srgbClr val="5B6774"/>
                </a:solidFill>
              </a:rPr>
              <a:t>. No labels anywhere.</a:t>
            </a:r>
            <a:endParaRPr lang="en-US" sz="1150" dirty="0"/>
          </a:p>
        </p:txBody>
      </p:sp>
      <p:pic>
        <p:nvPicPr>
          <p:cNvPr id="10" name="Image 2" descr="/tmp/claude-0/-home-claude/2d1c03a5-1b37-5417-bc19-7ea356031828/scratchpad/assets/icon_st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0" y="368503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680960" y="3657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38"/>
                </a:solidFill>
              </a:rPr>
              <a:t>AlphaGo</a:t>
            </a:r>
            <a:r>
              <a:rPr lang="en-US" sz="1250" dirty="0">
                <a:solidFill>
                  <a:srgbClr val="1C2A38"/>
                </a:solidFill>
              </a:rPr>
              <a:t> — millions of games of self-play.</a:t>
            </a:r>
            <a:endParaRPr lang="en-US" sz="1250" dirty="0"/>
          </a:p>
        </p:txBody>
      </p:sp>
      <p:pic>
        <p:nvPicPr>
          <p:cNvPr id="12" name="Image 3" descr="/tmp/claude-0/-home-claude/2d1c03a5-1b37-5417-bc19-7ea356031828/scratchpad/assets/icon_ge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4343400"/>
            <a:ext cx="274320" cy="2743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7680960" y="4315968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38"/>
                </a:solidFill>
              </a:rPr>
              <a:t>Robotics</a:t>
            </a:r>
            <a:r>
              <a:rPr lang="en-US" sz="1250" dirty="0">
                <a:solidFill>
                  <a:srgbClr val="1C2A38"/>
                </a:solidFill>
              </a:rPr>
              <a:t> — walking, grasping, flying.</a:t>
            </a:r>
            <a:endParaRPr lang="en-US" sz="1250" dirty="0"/>
          </a:p>
        </p:txBody>
      </p:sp>
      <p:pic>
        <p:nvPicPr>
          <p:cNvPr id="14" name="Image 4" descr="/tmp/claude-0/-home-claude/2d1c03a5-1b37-5417-bc19-7ea356031828/scratchpad/assets/icon_c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69480" y="5001768"/>
            <a:ext cx="274320" cy="2743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7680960" y="49743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2A38"/>
                </a:solidFill>
              </a:rPr>
              <a:t>ChatGPT</a:t>
            </a:r>
            <a:r>
              <a:rPr lang="en-US" sz="1250" dirty="0">
                <a:solidFill>
                  <a:srgbClr val="1C2A38"/>
                </a:solidFill>
              </a:rPr>
              <a:t> — RLHF aligns LLMs with our preferences.</a:t>
            </a:r>
            <a:endParaRPr lang="en-US" sz="1250" dirty="0"/>
          </a:p>
        </p:txBody>
      </p:sp>
      <p:sp>
        <p:nvSpPr>
          <p:cNvPr id="16" name="Text 9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10 — Refs: Mnih et al., Nature 2015 · Silver et al. (AlphaGo), Nature 2016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95AC"/>
                </a:solidFill>
              </a:rPr>
              <a:t>SCIENTIFIC MACHINE LEARNING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accelerates fluid dynamics</a:t>
            </a:r>
            <a:endParaRPr lang="en-US" sz="3000" dirty="0"/>
          </a:p>
        </p:txBody>
      </p:sp>
      <p:pic>
        <p:nvPicPr>
          <p:cNvPr id="4" name="Image 0" descr="/tmp/claude-0/-home-claude/2d1c03a5-1b37-5417-bc19-7ea356031828/scratchpad/assets/fourcastnet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63040"/>
            <a:ext cx="3291840" cy="35935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" y="51663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774"/>
                </a:solidFill>
              </a:rPr>
              <a:t>FourCastNet</a:t>
            </a:r>
            <a:r>
              <a:rPr lang="en-US" sz="1150" dirty="0">
                <a:solidFill>
                  <a:srgbClr val="5B6774"/>
                </a:solidFill>
              </a:rPr>
              <a:t>: global weather forecast by a neural network, ~45,000× faster than the numerical model — Pathak et al., 2022 (NVIDIA / NERSC).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389120" y="1554480"/>
            <a:ext cx="41148" cy="86868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7" name="Text 4"/>
          <p:cNvSpPr txBox="1"/>
          <p:nvPr/>
        </p:nvSpPr>
        <p:spPr>
          <a:xfrm>
            <a:off x="4617720" y="15544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38"/>
                </a:solidFill>
              </a:rPr>
              <a:t>Neural operators (FNO)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4617720" y="1883664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Learn the solution operator of a whole PDE family, any initial condition — Li et al., ICLR 2021.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596896"/>
            <a:ext cx="41148" cy="86868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7"/>
          <p:cNvSpPr txBox="1"/>
          <p:nvPr/>
        </p:nvSpPr>
        <p:spPr>
          <a:xfrm>
            <a:off x="4617720" y="2596896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38"/>
                </a:solidFill>
              </a:rPr>
              <a:t>ML-accelerated CFD solvers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617720" y="29260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Accuracy of an 8–10× finer mesh at 40–80× the speed — Kochkov et al., PNAS 2021.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89120" y="3639312"/>
            <a:ext cx="41148" cy="868680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3" name="Text 10"/>
          <p:cNvSpPr txBox="1"/>
          <p:nvPr/>
        </p:nvSpPr>
        <p:spPr>
          <a:xfrm>
            <a:off x="4617720" y="3639312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C2A38"/>
                </a:solidFill>
              </a:rPr>
              <a:t>Learned turbulence closures</a:t>
            </a:r>
            <a:endParaRPr lang="en-US" sz="1450" dirty="0"/>
          </a:p>
        </p:txBody>
      </p:sp>
      <p:sp>
        <p:nvSpPr>
          <p:cNvPr id="14" name="Text 11"/>
          <p:cNvSpPr txBox="1"/>
          <p:nvPr/>
        </p:nvSpPr>
        <p:spPr>
          <a:xfrm>
            <a:off x="4617720" y="3968496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Data-augmented RANS / LES models — Duraisamy et al., Annu. Rev. Fluid Mech. 2019.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89120" y="4709160"/>
            <a:ext cx="71323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16" name="Image 1" descr="/tmp/claude-0/-home-claude/2d1c03a5-1b37-5417-bc19-7ea356031828/scratchpad/assets/turbulence_anim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846320"/>
            <a:ext cx="1280160" cy="128016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035040" y="4892040"/>
            <a:ext cx="5303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</a:rPr>
              <a:t>Turbulence — nonlinear, multiscale, expensive to simulate — is the perfect target. </a:t>
            </a:r>
            <a:r>
              <a:rPr lang="en-US" sz="1200" i="1" dirty="0">
                <a:solidFill>
                  <a:srgbClr val="4A5568"/>
                </a:solidFill>
              </a:rPr>
              <a:t>(2D vorticity, evolving: pseudo-spectral Navier–Stokes simulation computed for this course.)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11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795AC"/>
                </a:solidFill>
              </a:rPr>
              <a:t>THE ELEMENTARY BUILDING BLOCK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2A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MLP — multilayer perceptron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539496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5" name="Image 0" descr="/tmp/claude-0/-home-claude/2d1c03a5-1b37-5417-bc19-7ea356031828/scratchpad/assets/mlp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1600200"/>
            <a:ext cx="493776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508760"/>
            <a:ext cx="41148" cy="777240"/>
          </a:xfrm>
          <a:prstGeom prst="rect">
            <a:avLst/>
          </a:prstGeom>
          <a:solidFill>
            <a:srgbClr val="13263C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7" name="Text 4"/>
          <p:cNvSpPr txBox="1"/>
          <p:nvPr/>
        </p:nvSpPr>
        <p:spPr>
          <a:xfrm>
            <a:off x="6629400" y="15087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38"/>
                </a:solidFill>
              </a:rPr>
              <a:t>One neuron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18196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z = w·x + b, then a nonlinearity: a = σ(z)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0" y="2423160"/>
            <a:ext cx="41148" cy="777240"/>
          </a:xfrm>
          <a:prstGeom prst="rect">
            <a:avLst/>
          </a:prstGeom>
          <a:solidFill>
            <a:srgbClr val="4CC9F0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0" name="Text 7"/>
          <p:cNvSpPr txBox="1"/>
          <p:nvPr/>
        </p:nvSpPr>
        <p:spPr>
          <a:xfrm>
            <a:off x="6629400" y="24231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38"/>
                </a:solidFill>
              </a:rPr>
              <a:t>Universal approximation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629400" y="27340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An MLP can approximate any continuous function — Cybenko 1989, Hornik 1991.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400800" y="3337560"/>
            <a:ext cx="41148" cy="777240"/>
          </a:xfrm>
          <a:prstGeom prst="rect">
            <a:avLst/>
          </a:prstGeom>
          <a:solidFill>
            <a:srgbClr val="F4A259"/>
          </a:solidFill>
          <a:ln/>
        </p:spPr>
        <p:txBody>
          <a:bodyPr/>
          <a:lstStyle/>
          <a:p>
            <a:endParaRPr lang="en-FR"/>
          </a:p>
        </p:txBody>
      </p:sp>
      <p:sp>
        <p:nvSpPr>
          <p:cNvPr id="13" name="Text 10"/>
          <p:cNvSpPr txBox="1"/>
          <p:nvPr/>
        </p:nvSpPr>
        <p:spPr>
          <a:xfrm>
            <a:off x="6629400" y="333756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2A38"/>
                </a:solidFill>
              </a:rPr>
              <a:t>Training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6629400" y="364845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5568"/>
                </a:solidFill>
              </a:rPr>
              <a:t>Backpropagation + gradient descent — Rumelhart et al., Nature 1986.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00800" y="429768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E2E6E0"/>
            </a:solidFill>
            <a:prstDash val="solid"/>
          </a:ln>
        </p:spPr>
        <p:txBody>
          <a:bodyPr/>
          <a:lstStyle/>
          <a:p>
            <a:endParaRPr lang="en-FR"/>
          </a:p>
        </p:txBody>
      </p:sp>
      <p:pic>
        <p:nvPicPr>
          <p:cNvPr id="16" name="Image 1" descr="/tmp/claude-0/-home-claude/2d1c03a5-1b37-5417-bc19-7ea356031828/scratchpad/assets/activa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4434840"/>
            <a:ext cx="4754880" cy="859536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6583680" y="5349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774"/>
                </a:solidFill>
              </a:rPr>
              <a:t>The nonlinearity σ</a:t>
            </a:r>
            <a:r>
              <a:rPr lang="en-US" sz="1150" dirty="0">
                <a:solidFill>
                  <a:srgbClr val="5B6774"/>
                </a:solidFill>
              </a:rPr>
              <a:t> is what makes depth powerful — without it, layers collapse into one.</a:t>
            </a:r>
            <a:endParaRPr lang="en-US" sz="1150" dirty="0"/>
          </a:p>
        </p:txBody>
      </p:sp>
      <p:sp>
        <p:nvSpPr>
          <p:cNvPr id="18" name="Text 14"/>
          <p:cNvSpPr txBox="1"/>
          <p:nvPr/>
        </p:nvSpPr>
        <p:spPr>
          <a:xfrm>
            <a:off x="658368" y="53492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C2A38"/>
                </a:solidFill>
              </a:rPr>
              <a:t>CNNs, GPT, diffusion, RL — </a:t>
            </a:r>
            <a:r>
              <a:rPr lang="en-US" sz="1450" b="1" dirty="0">
                <a:solidFill>
                  <a:srgbClr val="1C2A38"/>
                </a:solidFill>
              </a:rPr>
              <a:t>all are built from this same brick</a:t>
            </a:r>
            <a:r>
              <a:rPr lang="en-US" sz="1450" dirty="0">
                <a:solidFill>
                  <a:srgbClr val="1C2A38"/>
                </a:solidFill>
              </a:rPr>
              <a:t>. So are PINNs.</a:t>
            </a:r>
            <a:endParaRPr lang="en-US" sz="1450" dirty="0"/>
          </a:p>
        </p:txBody>
      </p:sp>
      <p:sp>
        <p:nvSpPr>
          <p:cNvPr id="19" name="Text 15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4A0"/>
                </a:solidFill>
              </a:rPr>
              <a:t>Intro to AI · 12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4A259"/>
                </a:solidFill>
              </a:rPr>
              <a:t>WHAT COMES NEXT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676656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6F7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PINNs: an MLP constrained by physics</a:t>
            </a:r>
            <a:endParaRPr lang="en-US" sz="3000" dirty="0"/>
          </a:p>
        </p:txBody>
      </p:sp>
      <p:pic>
        <p:nvPicPr>
          <p:cNvPr id="4" name="Image 0" descr="/tmp/claude-0/-home-claude/2d1c03a5-1b37-5417-bc19-7ea356031828/scratchpad/assets/pinn_training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63040"/>
            <a:ext cx="3566160" cy="316382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58368" y="47091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</a:rPr>
              <a:t>The solution </a:t>
            </a:r>
            <a:r>
              <a:rPr lang="en-US" sz="1150" b="1" dirty="0">
                <a:solidFill>
                  <a:srgbClr val="9FB3C4"/>
                </a:solidFill>
              </a:rPr>
              <a:t>emerging during training</a:t>
            </a:r>
            <a:r>
              <a:rPr lang="en-US" sz="1150" dirty="0">
                <a:solidFill>
                  <a:srgbClr val="9FB3C4"/>
                </a:solidFill>
              </a:rPr>
              <a:t> — no mesh, no solver: just a loss being minimised.</a:t>
            </a:r>
            <a:endParaRPr lang="en-US" sz="1150" dirty="0"/>
          </a:p>
        </p:txBody>
      </p:sp>
      <p:pic>
        <p:nvPicPr>
          <p:cNvPr id="6" name="Image 1" descr="/tmp/claude-0/-home-claude/2d1c03a5-1b37-5417-bc19-7ea356031828/scratchpad/assets/pinn_burg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463040"/>
            <a:ext cx="6949440" cy="250545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572000" y="4069080"/>
            <a:ext cx="6949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B3C4"/>
                </a:solidFill>
              </a:rPr>
              <a:t>After training: the PINN (MLP 3×32, tanh) overlaps the exact solution of Burgers' equation uₜ + u·uₓ = ν·uₓₓ, shock included — trained for this course. Method: Raissi, Perdikaris &amp; Karniadakis, J. Comput. Phys. 2019.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4572000" y="4937760"/>
            <a:ext cx="6949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6F7F4"/>
                </a:solidFill>
              </a:rPr>
              <a:t>Loss: </a:t>
            </a:r>
            <a:r>
              <a:rPr lang="en-US" sz="1400" b="1" dirty="0">
                <a:solidFill>
                  <a:srgbClr val="4CC9F0"/>
                </a:solidFill>
              </a:rPr>
              <a:t>L = L_data + λ·L_physics</a:t>
            </a:r>
            <a:r>
              <a:rPr lang="en-US" sz="1400" dirty="0">
                <a:solidFill>
                  <a:srgbClr val="F6F7F4"/>
                </a:solidFill>
              </a:rPr>
              <a:t> — the </a:t>
            </a:r>
            <a:r>
              <a:rPr lang="en-US" sz="1400" b="1" dirty="0">
                <a:solidFill>
                  <a:srgbClr val="F4A259"/>
                </a:solidFill>
              </a:rPr>
              <a:t>PDE residual</a:t>
            </a:r>
            <a:r>
              <a:rPr lang="en-US" sz="1400" dirty="0">
                <a:solidFill>
                  <a:srgbClr val="F6F7F4"/>
                </a:solidFill>
              </a:rPr>
              <a:t> enters training, with ∂u/∂x from automatic differentiation. Little or no data: the physics guides.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658368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E93A8"/>
                </a:solidFill>
              </a:rPr>
              <a:t>Intro to AI · 13 · N. Razaaly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roAI">
  <a:themeElements>
    <a:clrScheme name="IntroAI">
      <a:dk1>
        <a:srgbClr val="1C2A38"/>
      </a:dk1>
      <a:lt1>
        <a:srgbClr val="FFFFFF"/>
      </a:lt1>
      <a:dk2>
        <a:srgbClr val="13263C"/>
      </a:dk2>
      <a:lt2>
        <a:srgbClr val="F6F7F4"/>
      </a:lt2>
      <a:accent1>
        <a:srgbClr val="1795AC"/>
      </a:accent1>
      <a:accent2>
        <a:srgbClr val="F4A259"/>
      </a:accent2>
      <a:accent3>
        <a:srgbClr val="4CC9F0"/>
      </a:accent3>
      <a:accent4>
        <a:srgbClr val="C67B2B"/>
      </a:accent4>
      <a:accent5>
        <a:srgbClr val="4AA47C"/>
      </a:accent5>
      <a:accent6>
        <a:srgbClr val="9FB3C4"/>
      </a:accent6>
      <a:hlink>
        <a:srgbClr val="1795AC"/>
      </a:hlink>
      <a:folHlink>
        <a:srgbClr val="1795AC"/>
      </a:folHlink>
    </a:clrScheme>
    <a:fontScheme name="IntroAI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2063</Words>
  <Application>Microsoft Macintosh PowerPoint</Application>
  <PresentationFormat>Widescreen</PresentationFormat>
  <Paragraphs>155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5" baseType="lpstr">
      <vt:lpstr>Arial</vt:lpstr>
      <vt:lpstr>IntroAI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AI - toward PINNs</dc:title>
  <dc:subject>PptxGenJS Presentation</dc:subject>
  <dc:creator>N. Razaaly</dc:creator>
  <cp:lastModifiedBy>Nassim RAZAALY JAMAL</cp:lastModifiedBy>
  <cp:revision>2</cp:revision>
  <dcterms:created xsi:type="dcterms:W3CDTF">2026-10-19T01:44:59Z</dcterms:created>
  <dcterms:modified xsi:type="dcterms:W3CDTF">2026-10-19T02:39:49Z</dcterms:modified>
</cp:coreProperties>
</file>